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BM Plex Sans" panose="020B0503050203000203" pitchFamily="34" charset="0"/>
      <p:regular r:id="rId13"/>
      <p:bold r:id="rId14"/>
      <p:italic r:id="rId15"/>
    </p:embeddedFont>
    <p:embeddedFont>
      <p:font typeface="JetBrains Mono" panose="02000009000000000000" pitchFamily="49" charset="0"/>
      <p:regular r:id="rId16"/>
      <p:bold r:id="rId17"/>
      <p:italic r:id="rId18"/>
      <p:boldItalic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3098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Rakesh. For this assignment I researched pager rotation duties, which is basically how teams share on-call work. I started with Chapter 16 of The DevOps Handbook and then looked at Google’s SRE book, PagerDuty and Atlassian to see what companies actually do in practice.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best practices, I wanted to define the term. A pager rotation is just the on-call schedule. The person on call gets alerted, used to be an actual pager, now it’s a phone app like PagerDuty, and they have to respond. The big DevOps shift is who is on that schedule. Werner Vogels at Amazon summed it up as “you build it, you run it,” and that idea later became part of the DevOps movement.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point of Chapter 16. When only Ops gets paged, the people who wrote the bug never feel the pain, and the fix gets pushed behind new features. The book calls this a local optimization that hurts the whole value stream. The fix is simple: put developers on the rotation too. The New Relic quote is my favorite line from the chapter because it shows how fast behavior changes once developers get the 2 a.m. call. It also changes the meaning of “done.”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takes this a step further. A new service is run by its own developers for at least six months before the SRE team will take it over. Two checklists control this: the Launch Readiness Review before real users see it, and the stricter Hand-off Readiness Review before SREs take the pager. One thing I found interesting is the hand-back. If a service becomes too fragile, Ops can give the pager back to the developers. That protects Ops from getting stuck with something unsupportable.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explains why to share the pager, so I went to Google’s SRE book for the how. The key numbers are on this slide. Nobody should spend more than a quarter of their time on call, and a shift should not have more than two incidents, because you need time to actually fix the root cause and write the postmortem. Google also gives a minimum team size. With a primary and a secondary on call at all times, a single site needs at least eight people to keep the load under 25 percent.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scheduling, PagerDuty looked at how their customers set up rotations. The most common shift lengths were 8 hours, 12 hours, one day and one week, and each one fits a different team size. Their advice on handoffs made sense to me: do it during work hours, ideally Monday, so both people are awake and can review last week’s alerts together. Atlassian adds that juniors can be primary with a senior as the backup, which helps them learn without getting stuck.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 fatigue is one of the fastest ways to burn people out. If the pager goes off for things that don’t matter, people start ignoring it. So the advice is to only wake someone up for urgent problems, combine duplicate alerts, and make sure every alert links to a runbook. The last card comes from Chapter 16. Etsy overlays every deployment on its graphs, which is how a developer spotted a bad PHP release and fixed it in under ten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group of practices is about the people. If on-call feels unfair or scary, good engineers leave. Atlassian recommends not giving sprint work to whoever is on call, training new people by shadowing, letting someone start late after a bad night, and tracking how often each person gets paged so the load stays fair. Google’s SRE book adds compensation, either time off or cash, and both sources stress blameless postmortems so people aren’t afraid to report what happened.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my main takeaway is that the pager isn’t just about keeping the site up. It’s a feedback loop that pushes teams to write code that’s easier to run. If I had to set up a rotation for a small team, I’d start developers as the secondary so they learn, use one-week shifts with a Monday handoff, require a runbook for every alert, and check each month that the load is fair.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sources. The textbook was the starting point, and I used four outside sources: Google’s SRE book for the workload limits, PagerDuty for scheduling, and two Atlassian guides for on-call practices and the “you build it, you run it” background.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A65A"/>
          </a:solidFill>
          <a:ln/>
        </p:spPr>
        <p:txBody>
          <a:bodyPr/>
          <a:lstStyle/>
          <a:p>
            <a:endParaRPr lang="en-US"/>
          </a:p>
        </p:txBody>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2A65A"/>
                </a:solidFill>
                <a:latin typeface="JetBrains Mono" pitchFamily="49" charset="0"/>
                <a:ea typeface="JetBrains Mono" pitchFamily="49" charset="-122"/>
                <a:cs typeface="JetBrains Mono" pitchFamily="49" charset="-120"/>
              </a:rPr>
              <a:t>CSD-380 DEVOPS · MODULE 7.2</a:t>
            </a:r>
            <a:endParaRPr lang="en-US" sz="1400" dirty="0"/>
          </a:p>
        </p:txBody>
      </p:sp>
      <p:sp>
        <p:nvSpPr>
          <p:cNvPr id="4" name="Text 2"/>
          <p:cNvSpPr>
            <a:spLocks noGrp="1"/>
          </p:cNvSpPr>
          <p:nvPr>
            <p:ph type="title"/>
          </p:nvPr>
        </p:nvSpPr>
        <p:spPr>
          <a:xfrm>
            <a:off x="812800" y="199771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Pager Rotation Duties in DevOps</a:t>
            </a:r>
            <a:endParaRPr lang="en-US" sz="6000" dirty="0"/>
          </a:p>
        </p:txBody>
      </p:sp>
      <p:sp>
        <p:nvSpPr>
          <p:cNvPr id="5" name="Text 3"/>
          <p:cNvSpPr/>
          <p:nvPr/>
        </p:nvSpPr>
        <p:spPr>
          <a:xfrm>
            <a:off x="812800" y="3851910"/>
            <a:ext cx="850265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D3E3"/>
                </a:solidFill>
                <a:latin typeface="IBM Plex Sans" pitchFamily="34" charset="0"/>
                <a:ea typeface="IBM Plex Sans" pitchFamily="34" charset="-122"/>
                <a:cs typeface="IBM Plex Sans" pitchFamily="34" charset="-120"/>
              </a:rPr>
              <a:t>Industry best practices for sharing on-call work between Development and Operations</a:t>
            </a:r>
            <a:endParaRPr lang="en-US" sz="2000" dirty="0"/>
          </a:p>
        </p:txBody>
      </p:sp>
      <p:sp>
        <p:nvSpPr>
          <p:cNvPr id="6" name="Text 4"/>
          <p:cNvSpPr/>
          <p:nvPr/>
        </p:nvSpPr>
        <p:spPr>
          <a:xfrm>
            <a:off x="812800" y="5473700"/>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C9D3E3"/>
                </a:solidFill>
                <a:latin typeface="IBM Plex Sans" pitchFamily="34" charset="0"/>
                <a:ea typeface="IBM Plex Sans" pitchFamily="34" charset="-122"/>
                <a:cs typeface="IBM Plex Sans" pitchFamily="34" charset="-120"/>
              </a:rPr>
              <a:t>Rakesh Shrestha</a:t>
            </a:r>
            <a:endParaRPr lang="en-US" sz="1500" dirty="0"/>
          </a:p>
          <a:p>
            <a:pPr marL="0" indent="0" algn="l">
              <a:lnSpc>
                <a:spcPts val="2250"/>
              </a:lnSpc>
              <a:buNone/>
            </a:pPr>
            <a:r>
              <a:rPr lang="en-US" sz="1500" dirty="0">
                <a:solidFill>
                  <a:srgbClr val="C9D3E3"/>
                </a:solidFill>
                <a:latin typeface="IBM Plex Sans" pitchFamily="34" charset="0"/>
                <a:ea typeface="IBM Plex Sans" pitchFamily="34" charset="-122"/>
                <a:cs typeface="IBM Plex Sans" pitchFamily="34" charset="-120"/>
              </a:rPr>
              <a:t>Bellevue University · Professor Chandra Bobba · October 23,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24A16"/>
                </a:solidFill>
                <a:latin typeface="JetBrains Mono" pitchFamily="49" charset="0"/>
                <a:ea typeface="JetBrains Mono" pitchFamily="49" charset="-122"/>
                <a:cs typeface="JetBrains Mono" pitchFamily="49" charset="-120"/>
              </a:rPr>
              <a:t>THE BASICS</a:t>
            </a:r>
            <a:endParaRPr lang="en-US" sz="1200" dirty="0"/>
          </a:p>
        </p:txBody>
      </p:sp>
      <p:sp>
        <p:nvSpPr>
          <p:cNvPr id="3" name="Text 1"/>
          <p:cNvSpPr>
            <a:spLocks noGrp="1"/>
          </p:cNvSpPr>
          <p:nvPr>
            <p:ph type="title"/>
          </p:nvPr>
        </p:nvSpPr>
        <p:spPr>
          <a:xfrm>
            <a:off x="812800" y="11277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What pager rotation means</a:t>
            </a:r>
            <a:endParaRPr lang="en-US" sz="3600" dirty="0"/>
          </a:p>
        </p:txBody>
      </p:sp>
      <p:sp>
        <p:nvSpPr>
          <p:cNvPr id="4" name="Text 2"/>
          <p:cNvSpPr/>
          <p:nvPr/>
        </p:nvSpPr>
        <p:spPr>
          <a:xfrm>
            <a:off x="812800" y="1986280"/>
            <a:ext cx="6278880" cy="127762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3D4A5C"/>
                </a:solidFill>
                <a:latin typeface="IBM Plex Sans" pitchFamily="34" charset="0"/>
                <a:ea typeface="IBM Plex Sans" pitchFamily="34" charset="-122"/>
                <a:cs typeface="IBM Plex Sans" pitchFamily="34" charset="-120"/>
              </a:rPr>
              <a:t>A pager rotation is a schedule that names who responds when a production system breaks, day or night. Each person takes a shift as the on-call engineer, then hands the pager to the next person.</a:t>
            </a:r>
            <a:endParaRPr lang="en-US" sz="1700" dirty="0"/>
          </a:p>
        </p:txBody>
      </p:sp>
      <p:sp>
        <p:nvSpPr>
          <p:cNvPr id="5" name="Text 3"/>
          <p:cNvSpPr/>
          <p:nvPr/>
        </p:nvSpPr>
        <p:spPr>
          <a:xfrm>
            <a:off x="812800" y="3441700"/>
            <a:ext cx="6278880" cy="65151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3D4A5C"/>
                </a:solidFill>
                <a:latin typeface="IBM Plex Sans" pitchFamily="34" charset="0"/>
                <a:ea typeface="IBM Plex Sans" pitchFamily="34" charset="-122"/>
                <a:cs typeface="IBM Plex Sans" pitchFamily="34" charset="-120"/>
              </a:rPr>
              <a:t>In a traditional IT shop, only Operations carries the pager. In DevOps, the developers who wrote the code share that duty.</a:t>
            </a:r>
            <a:endParaRPr lang="en-US" sz="1700" dirty="0"/>
          </a:p>
        </p:txBody>
      </p:sp>
      <p:sp>
        <p:nvSpPr>
          <p:cNvPr id="6" name="Shape 4"/>
          <p:cNvSpPr/>
          <p:nvPr/>
        </p:nvSpPr>
        <p:spPr>
          <a:xfrm>
            <a:off x="7315200" y="1986280"/>
            <a:ext cx="4064000" cy="3855720"/>
          </a:xfrm>
          <a:prstGeom prst="roundRect">
            <a:avLst>
              <a:gd name="adj" fmla="val 3294"/>
            </a:avLst>
          </a:prstGeom>
          <a:solidFill>
            <a:srgbClr val="14213D"/>
          </a:solidFill>
          <a:ln/>
        </p:spPr>
        <p:txBody>
          <a:bodyPr/>
          <a:lstStyle/>
          <a:p>
            <a:endParaRPr lang="en-US"/>
          </a:p>
        </p:txBody>
      </p:sp>
      <p:sp>
        <p:nvSpPr>
          <p:cNvPr id="7" name="Text 5"/>
          <p:cNvSpPr/>
          <p:nvPr/>
        </p:nvSpPr>
        <p:spPr>
          <a:xfrm>
            <a:off x="7670800" y="3029585"/>
            <a:ext cx="3453384" cy="843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F2A65A"/>
                </a:solidFill>
                <a:latin typeface="IBM Plex Sans" pitchFamily="34" charset="0"/>
                <a:ea typeface="IBM Plex Sans" pitchFamily="34" charset="-122"/>
                <a:cs typeface="IBM Plex Sans" pitchFamily="34" charset="-120"/>
              </a:rPr>
              <a:t>“You build it, you run it.”</a:t>
            </a:r>
            <a:endParaRPr lang="en-US" sz="2800" dirty="0"/>
          </a:p>
        </p:txBody>
      </p:sp>
      <p:sp>
        <p:nvSpPr>
          <p:cNvPr id="8" name="Text 6"/>
          <p:cNvSpPr/>
          <p:nvPr/>
        </p:nvSpPr>
        <p:spPr>
          <a:xfrm>
            <a:off x="7670800" y="4025265"/>
            <a:ext cx="3453384"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C9D3E3"/>
                </a:solidFill>
                <a:latin typeface="IBM Plex Sans" pitchFamily="34" charset="0"/>
                <a:ea typeface="IBM Plex Sans" pitchFamily="34" charset="-122"/>
                <a:cs typeface="IBM Plex Sans" pitchFamily="34" charset="-120"/>
              </a:rPr>
              <a:t>Werner Vogels, Amazon CTO, describing in 2006 how Amazon stopped throwing software “over the wall” to Operations.</a:t>
            </a:r>
            <a:endParaRPr lang="en-US" sz="1400" dirty="0"/>
          </a:p>
        </p:txBody>
      </p:sp>
      <p:sp>
        <p:nvSpPr>
          <p:cNvPr id="9" name="Text 7"/>
          <p:cNvSpPr/>
          <p:nvPr/>
        </p:nvSpPr>
        <p:spPr>
          <a:xfrm>
            <a:off x="812800" y="6238241"/>
            <a:ext cx="36309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878"/>
                </a:solidFill>
                <a:latin typeface="IBM Plex Sans" pitchFamily="34" charset="0"/>
                <a:ea typeface="IBM Plex Sans" pitchFamily="34" charset="-122"/>
                <a:cs typeface="IBM Plex Sans" pitchFamily="34" charset="-120"/>
              </a:rPr>
              <a:t>Sources: Atlassian (n.d.-b); Kim et al. (2021)</a:t>
            </a:r>
            <a:endParaRPr lang="en-US" sz="1200" dirty="0"/>
          </a:p>
        </p:txBody>
      </p:sp>
      <p:sp>
        <p:nvSpPr>
          <p:cNvPr id="10" name="Text 8"/>
          <p:cNvSpPr/>
          <p:nvPr/>
        </p:nvSpPr>
        <p:spPr>
          <a:xfrm>
            <a:off x="11236960" y="6238241"/>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878"/>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24A16"/>
                </a:solidFill>
                <a:latin typeface="JetBrains Mono" pitchFamily="49" charset="0"/>
                <a:ea typeface="JetBrains Mono" pitchFamily="49" charset="-122"/>
                <a:cs typeface="JetBrains Mono" pitchFamily="49" charset="-120"/>
              </a:rPr>
              <a:t>CHAPTER 16</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Why developers share the pager</a:t>
            </a:r>
            <a:endParaRPr lang="en-US" sz="3600" dirty="0"/>
          </a:p>
        </p:txBody>
      </p:sp>
      <p:sp>
        <p:nvSpPr>
          <p:cNvPr id="4" name="Shape 2"/>
          <p:cNvSpPr/>
          <p:nvPr/>
        </p:nvSpPr>
        <p:spPr>
          <a:xfrm>
            <a:off x="815975" y="1989455"/>
            <a:ext cx="3380303" cy="3849370"/>
          </a:xfrm>
          <a:prstGeom prst="roundRect">
            <a:avLst>
              <a:gd name="adj" fmla="val 2912"/>
            </a:avLst>
          </a:prstGeom>
          <a:solidFill>
            <a:srgbClr val="FDFCFA"/>
          </a:solidFill>
          <a:ln w="6350">
            <a:solidFill>
              <a:srgbClr val="DDD9CF"/>
            </a:solidFill>
            <a:prstDash val="solid"/>
          </a:ln>
        </p:spPr>
        <p:txBody>
          <a:bodyPr/>
          <a:lstStyle/>
          <a:p>
            <a:endParaRPr lang="en-US"/>
          </a:p>
        </p:txBody>
      </p:sp>
      <p:sp>
        <p:nvSpPr>
          <p:cNvPr id="5" name="Text 3"/>
          <p:cNvSpPr/>
          <p:nvPr/>
        </p:nvSpPr>
        <p:spPr>
          <a:xfrm>
            <a:off x="1097280" y="2270761"/>
            <a:ext cx="290222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24A16"/>
                </a:solidFill>
                <a:latin typeface="IBM Plex Sans" pitchFamily="34" charset="0"/>
                <a:ea typeface="IBM Plex Sans" pitchFamily="34" charset="-122"/>
                <a:cs typeface="IBM Plex Sans" pitchFamily="34" charset="-120"/>
              </a:rPr>
              <a:t>The problem</a:t>
            </a:r>
            <a:endParaRPr lang="en-US" sz="1800" dirty="0"/>
          </a:p>
        </p:txBody>
      </p:sp>
      <p:sp>
        <p:nvSpPr>
          <p:cNvPr id="6" name="Text 4"/>
          <p:cNvSpPr/>
          <p:nvPr/>
        </p:nvSpPr>
        <p:spPr>
          <a:xfrm>
            <a:off x="1097280" y="2672080"/>
            <a:ext cx="2902224" cy="16827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A5C"/>
                </a:solidFill>
                <a:latin typeface="IBM Plex Sans" pitchFamily="34" charset="0"/>
                <a:ea typeface="IBM Plex Sans" pitchFamily="34" charset="-122"/>
                <a:cs typeface="IBM Plex Sans" pitchFamily="34" charset="-120"/>
              </a:rPr>
              <a:t>Outages happen at 2 a.m. and land on Ops. The defect goes to the feature team but ranks below new features, so it keeps coming back for weeks or months.</a:t>
            </a:r>
            <a:endParaRPr lang="en-US" sz="1500" dirty="0"/>
          </a:p>
        </p:txBody>
      </p:sp>
      <p:sp>
        <p:nvSpPr>
          <p:cNvPr id="7" name="Shape 5"/>
          <p:cNvSpPr/>
          <p:nvPr/>
        </p:nvSpPr>
        <p:spPr>
          <a:xfrm>
            <a:off x="4405828" y="1989455"/>
            <a:ext cx="3380343" cy="3849370"/>
          </a:xfrm>
          <a:prstGeom prst="roundRect">
            <a:avLst>
              <a:gd name="adj" fmla="val 2912"/>
            </a:avLst>
          </a:prstGeom>
          <a:solidFill>
            <a:srgbClr val="FDFCFA"/>
          </a:solidFill>
          <a:ln w="6350">
            <a:solidFill>
              <a:srgbClr val="DDD9CF"/>
            </a:solidFill>
            <a:prstDash val="solid"/>
          </a:ln>
        </p:spPr>
        <p:txBody>
          <a:bodyPr/>
          <a:lstStyle/>
          <a:p>
            <a:endParaRPr lang="en-US"/>
          </a:p>
        </p:txBody>
      </p:sp>
      <p:sp>
        <p:nvSpPr>
          <p:cNvPr id="8" name="Text 6"/>
          <p:cNvSpPr/>
          <p:nvPr/>
        </p:nvSpPr>
        <p:spPr>
          <a:xfrm>
            <a:off x="4687134" y="2270761"/>
            <a:ext cx="290226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24A16"/>
                </a:solidFill>
                <a:latin typeface="IBM Plex Sans" pitchFamily="34" charset="0"/>
                <a:ea typeface="IBM Plex Sans" pitchFamily="34" charset="-122"/>
                <a:cs typeface="IBM Plex Sans" pitchFamily="34" charset="-120"/>
              </a:rPr>
              <a:t>The fix</a:t>
            </a:r>
            <a:endParaRPr lang="en-US" sz="1800" dirty="0"/>
          </a:p>
        </p:txBody>
      </p:sp>
      <p:sp>
        <p:nvSpPr>
          <p:cNvPr id="9" name="Text 7"/>
          <p:cNvSpPr/>
          <p:nvPr/>
        </p:nvSpPr>
        <p:spPr>
          <a:xfrm>
            <a:off x="4687134" y="2672080"/>
            <a:ext cx="2902265" cy="16827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A5C"/>
                </a:solidFill>
                <a:latin typeface="IBM Plex Sans" pitchFamily="34" charset="0"/>
                <a:ea typeface="IBM Plex Sans" pitchFamily="34" charset="-122"/>
                <a:cs typeface="IBM Plex Sans" pitchFamily="34" charset="-120"/>
              </a:rPr>
              <a:t>Put developers, development managers and architects on the rotation, as Facebook did in 2009. Everyone gets direct feedback on their design and code choices.</a:t>
            </a:r>
            <a:endParaRPr lang="en-US" sz="1500" dirty="0"/>
          </a:p>
        </p:txBody>
      </p:sp>
      <p:sp>
        <p:nvSpPr>
          <p:cNvPr id="10" name="Shape 8"/>
          <p:cNvSpPr/>
          <p:nvPr/>
        </p:nvSpPr>
        <p:spPr>
          <a:xfrm>
            <a:off x="7995722" y="1989455"/>
            <a:ext cx="3380303" cy="3849370"/>
          </a:xfrm>
          <a:prstGeom prst="roundRect">
            <a:avLst>
              <a:gd name="adj" fmla="val 2912"/>
            </a:avLst>
          </a:prstGeom>
          <a:solidFill>
            <a:srgbClr val="FDFCFA"/>
          </a:solidFill>
          <a:ln w="6350">
            <a:solidFill>
              <a:srgbClr val="DDD9CF"/>
            </a:solidFill>
            <a:prstDash val="solid"/>
          </a:ln>
        </p:spPr>
        <p:txBody>
          <a:bodyPr/>
          <a:lstStyle/>
          <a:p>
            <a:endParaRPr lang="en-US"/>
          </a:p>
        </p:txBody>
      </p:sp>
      <p:sp>
        <p:nvSpPr>
          <p:cNvPr id="11" name="Text 9"/>
          <p:cNvSpPr/>
          <p:nvPr/>
        </p:nvSpPr>
        <p:spPr>
          <a:xfrm>
            <a:off x="8277027" y="2270761"/>
            <a:ext cx="290222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24A16"/>
                </a:solidFill>
                <a:latin typeface="IBM Plex Sans" pitchFamily="34" charset="0"/>
                <a:ea typeface="IBM Plex Sans" pitchFamily="34" charset="-122"/>
                <a:cs typeface="IBM Plex Sans" pitchFamily="34" charset="-120"/>
              </a:rPr>
              <a:t>The result</a:t>
            </a:r>
            <a:endParaRPr lang="en-US" sz="1800" dirty="0"/>
          </a:p>
        </p:txBody>
      </p:sp>
      <p:sp>
        <p:nvSpPr>
          <p:cNvPr id="12" name="Text 10"/>
          <p:cNvSpPr/>
          <p:nvPr/>
        </p:nvSpPr>
        <p:spPr>
          <a:xfrm>
            <a:off x="8277027" y="2672080"/>
            <a:ext cx="2902224" cy="14065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A5C"/>
                </a:solidFill>
                <a:latin typeface="IBM Plex Sans" pitchFamily="34" charset="0"/>
                <a:ea typeface="IBM Plex Sans" pitchFamily="34" charset="-122"/>
                <a:cs typeface="IBM Plex Sans" pitchFamily="34" charset="-120"/>
              </a:rPr>
              <a:t>“When we woke up developers at 2 AM, defects were fixed faster” (Patrick Lightbody, New Relic). A feature is only done when it works in production.</a:t>
            </a:r>
            <a:endParaRPr lang="en-US" sz="1500" dirty="0"/>
          </a:p>
        </p:txBody>
      </p:sp>
      <p:sp>
        <p:nvSpPr>
          <p:cNvPr id="13" name="Text 11"/>
          <p:cNvSpPr/>
          <p:nvPr/>
        </p:nvSpPr>
        <p:spPr>
          <a:xfrm>
            <a:off x="812800" y="6238241"/>
            <a:ext cx="3049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878"/>
                </a:solidFill>
                <a:latin typeface="IBM Plex Sans" pitchFamily="34" charset="0"/>
                <a:ea typeface="IBM Plex Sans" pitchFamily="34" charset="-122"/>
                <a:cs typeface="IBM Plex Sans" pitchFamily="34" charset="-120"/>
              </a:rPr>
              <a:t>Source: Kim et al. (2021), Chapter 16</a:t>
            </a:r>
            <a:endParaRPr lang="en-US" sz="1200" dirty="0"/>
          </a:p>
        </p:txBody>
      </p:sp>
      <p:sp>
        <p:nvSpPr>
          <p:cNvPr id="14" name="Text 12"/>
          <p:cNvSpPr/>
          <p:nvPr/>
        </p:nvSpPr>
        <p:spPr>
          <a:xfrm>
            <a:off x="11236960" y="6238241"/>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87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24A16"/>
                </a:solidFill>
                <a:latin typeface="JetBrains Mono" pitchFamily="49" charset="0"/>
                <a:ea typeface="JetBrains Mono" pitchFamily="49" charset="-122"/>
                <a:cs typeface="JetBrains Mono" pitchFamily="49" charset="-120"/>
              </a:rPr>
              <a:t>CASE STUDY: GOOGLE</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Developers run it first, then earn the handoff</a:t>
            </a:r>
            <a:endParaRPr lang="en-US" sz="3600" dirty="0"/>
          </a:p>
        </p:txBody>
      </p:sp>
      <p:sp>
        <p:nvSpPr>
          <p:cNvPr id="4" name="Shape 2"/>
          <p:cNvSpPr/>
          <p:nvPr/>
        </p:nvSpPr>
        <p:spPr>
          <a:xfrm>
            <a:off x="815975" y="1989455"/>
            <a:ext cx="2180590" cy="1423670"/>
          </a:xfrm>
          <a:prstGeom prst="roundRect">
            <a:avLst>
              <a:gd name="adj" fmla="val 6913"/>
            </a:avLst>
          </a:prstGeom>
          <a:solidFill>
            <a:srgbClr val="FDFCFA"/>
          </a:solidFill>
          <a:ln w="6350">
            <a:solidFill>
              <a:srgbClr val="DDD9CF"/>
            </a:solidFill>
            <a:prstDash val="solid"/>
          </a:ln>
        </p:spPr>
        <p:txBody>
          <a:bodyPr/>
          <a:lstStyle/>
          <a:p>
            <a:endParaRPr lang="en-US"/>
          </a:p>
        </p:txBody>
      </p:sp>
      <p:sp>
        <p:nvSpPr>
          <p:cNvPr id="5" name="Text 3"/>
          <p:cNvSpPr/>
          <p:nvPr/>
        </p:nvSpPr>
        <p:spPr>
          <a:xfrm>
            <a:off x="1021080" y="2194561"/>
            <a:ext cx="18234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1. Launch</a:t>
            </a:r>
            <a:endParaRPr lang="en-US" sz="1600" dirty="0"/>
          </a:p>
        </p:txBody>
      </p:sp>
      <p:sp>
        <p:nvSpPr>
          <p:cNvPr id="6" name="Text 4"/>
          <p:cNvSpPr/>
          <p:nvPr/>
        </p:nvSpPr>
        <p:spPr>
          <a:xfrm>
            <a:off x="1021080" y="2514600"/>
            <a:ext cx="1823492"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Pass the Launch Readiness Review (LRR)</a:t>
            </a:r>
            <a:endParaRPr lang="en-US" sz="1300" dirty="0"/>
          </a:p>
        </p:txBody>
      </p:sp>
      <p:pic>
        <p:nvPicPr>
          <p:cNvPr id="7" name="Image 0" descr="arrow-right"/>
          <p:cNvPicPr>
            <a:picLocks noChangeAspect="1"/>
          </p:cNvPicPr>
          <p:nvPr/>
        </p:nvPicPr>
        <p:blipFill>
          <a:blip r:embed="rId3"/>
          <a:srcRect/>
          <a:stretch/>
        </p:blipFill>
        <p:spPr>
          <a:xfrm>
            <a:off x="3126740" y="2599691"/>
            <a:ext cx="355600" cy="203200"/>
          </a:xfrm>
          <a:prstGeom prst="rect">
            <a:avLst/>
          </a:prstGeom>
        </p:spPr>
      </p:pic>
      <p:sp>
        <p:nvSpPr>
          <p:cNvPr id="8" name="Shape 5"/>
          <p:cNvSpPr/>
          <p:nvPr/>
        </p:nvSpPr>
        <p:spPr>
          <a:xfrm>
            <a:off x="3612515" y="2105025"/>
            <a:ext cx="2180590" cy="1192530"/>
          </a:xfrm>
          <a:prstGeom prst="roundRect">
            <a:avLst>
              <a:gd name="adj" fmla="val 8253"/>
            </a:avLst>
          </a:prstGeom>
          <a:solidFill>
            <a:srgbClr val="FDFCFA"/>
          </a:solidFill>
          <a:ln w="6350">
            <a:solidFill>
              <a:srgbClr val="DDD9CF"/>
            </a:solidFill>
            <a:prstDash val="solid"/>
          </a:ln>
        </p:spPr>
        <p:txBody>
          <a:bodyPr/>
          <a:lstStyle/>
          <a:p>
            <a:endParaRPr lang="en-US"/>
          </a:p>
        </p:txBody>
      </p:sp>
      <p:sp>
        <p:nvSpPr>
          <p:cNvPr id="9" name="Text 6"/>
          <p:cNvSpPr/>
          <p:nvPr/>
        </p:nvSpPr>
        <p:spPr>
          <a:xfrm>
            <a:off x="3817620" y="2310130"/>
            <a:ext cx="18234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2. Self-run</a:t>
            </a:r>
            <a:endParaRPr lang="en-US" sz="1600" dirty="0"/>
          </a:p>
        </p:txBody>
      </p:sp>
      <p:sp>
        <p:nvSpPr>
          <p:cNvPr id="10" name="Text 7"/>
          <p:cNvSpPr/>
          <p:nvPr/>
        </p:nvSpPr>
        <p:spPr>
          <a:xfrm>
            <a:off x="3817620" y="2630170"/>
            <a:ext cx="182349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Developers carry the pager for 6+ months</a:t>
            </a:r>
            <a:endParaRPr lang="en-US" sz="1300" dirty="0"/>
          </a:p>
        </p:txBody>
      </p:sp>
      <p:pic>
        <p:nvPicPr>
          <p:cNvPr id="11" name="Image 1" descr="arrow-right"/>
          <p:cNvPicPr>
            <a:picLocks noChangeAspect="1"/>
          </p:cNvPicPr>
          <p:nvPr/>
        </p:nvPicPr>
        <p:blipFill>
          <a:blip r:embed="rId3"/>
          <a:srcRect/>
          <a:stretch/>
        </p:blipFill>
        <p:spPr>
          <a:xfrm>
            <a:off x="5923280" y="2599691"/>
            <a:ext cx="355600" cy="203200"/>
          </a:xfrm>
          <a:prstGeom prst="rect">
            <a:avLst/>
          </a:prstGeom>
        </p:spPr>
      </p:pic>
      <p:sp>
        <p:nvSpPr>
          <p:cNvPr id="12" name="Shape 8"/>
          <p:cNvSpPr/>
          <p:nvPr/>
        </p:nvSpPr>
        <p:spPr>
          <a:xfrm>
            <a:off x="6409055" y="1989455"/>
            <a:ext cx="2180590" cy="1423670"/>
          </a:xfrm>
          <a:prstGeom prst="roundRect">
            <a:avLst>
              <a:gd name="adj" fmla="val 6913"/>
            </a:avLst>
          </a:prstGeom>
          <a:solidFill>
            <a:srgbClr val="FDFCFA"/>
          </a:solidFill>
          <a:ln w="6350">
            <a:solidFill>
              <a:srgbClr val="DDD9CF"/>
            </a:solidFill>
            <a:prstDash val="solid"/>
          </a:ln>
        </p:spPr>
        <p:txBody>
          <a:bodyPr/>
          <a:lstStyle/>
          <a:p>
            <a:endParaRPr lang="en-US"/>
          </a:p>
        </p:txBody>
      </p:sp>
      <p:sp>
        <p:nvSpPr>
          <p:cNvPr id="13" name="Text 9"/>
          <p:cNvSpPr/>
          <p:nvPr/>
        </p:nvSpPr>
        <p:spPr>
          <a:xfrm>
            <a:off x="6614160" y="2194561"/>
            <a:ext cx="18234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3. Handoff</a:t>
            </a:r>
            <a:endParaRPr lang="en-US" sz="1600" dirty="0"/>
          </a:p>
        </p:txBody>
      </p:sp>
      <p:sp>
        <p:nvSpPr>
          <p:cNvPr id="14" name="Text 10"/>
          <p:cNvSpPr/>
          <p:nvPr/>
        </p:nvSpPr>
        <p:spPr>
          <a:xfrm>
            <a:off x="6614160" y="2514600"/>
            <a:ext cx="1823492"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Pass the stricter Hand-off Readiness Review (HRR)</a:t>
            </a:r>
            <a:endParaRPr lang="en-US" sz="1300" dirty="0"/>
          </a:p>
        </p:txBody>
      </p:sp>
      <p:pic>
        <p:nvPicPr>
          <p:cNvPr id="15" name="Image 2" descr="arrow-right"/>
          <p:cNvPicPr>
            <a:picLocks noChangeAspect="1"/>
          </p:cNvPicPr>
          <p:nvPr/>
        </p:nvPicPr>
        <p:blipFill>
          <a:blip r:embed="rId3"/>
          <a:srcRect/>
          <a:stretch/>
        </p:blipFill>
        <p:spPr>
          <a:xfrm>
            <a:off x="8719820" y="2599691"/>
            <a:ext cx="355600" cy="203200"/>
          </a:xfrm>
          <a:prstGeom prst="rect">
            <a:avLst/>
          </a:prstGeom>
        </p:spPr>
      </p:pic>
      <p:sp>
        <p:nvSpPr>
          <p:cNvPr id="16" name="Shape 11"/>
          <p:cNvSpPr/>
          <p:nvPr/>
        </p:nvSpPr>
        <p:spPr>
          <a:xfrm>
            <a:off x="9202420" y="2106930"/>
            <a:ext cx="2176780" cy="1188720"/>
          </a:xfrm>
          <a:prstGeom prst="roundRect">
            <a:avLst>
              <a:gd name="adj" fmla="val 8547"/>
            </a:avLst>
          </a:prstGeom>
          <a:solidFill>
            <a:srgbClr val="14213D"/>
          </a:solidFill>
          <a:ln/>
        </p:spPr>
        <p:txBody>
          <a:bodyPr/>
          <a:lstStyle/>
          <a:p>
            <a:endParaRPr lang="en-US"/>
          </a:p>
        </p:txBody>
      </p:sp>
      <p:sp>
        <p:nvSpPr>
          <p:cNvPr id="17" name="Text 12"/>
          <p:cNvSpPr/>
          <p:nvPr/>
        </p:nvSpPr>
        <p:spPr>
          <a:xfrm>
            <a:off x="9405620" y="2310130"/>
            <a:ext cx="18234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4. SRE runs it</a:t>
            </a:r>
            <a:endParaRPr lang="en-US" sz="1600" dirty="0"/>
          </a:p>
        </p:txBody>
      </p:sp>
      <p:sp>
        <p:nvSpPr>
          <p:cNvPr id="18" name="Text 13"/>
          <p:cNvSpPr/>
          <p:nvPr/>
        </p:nvSpPr>
        <p:spPr>
          <a:xfrm>
            <a:off x="9405620" y="2630170"/>
            <a:ext cx="182349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BM Plex Sans" pitchFamily="34" charset="0"/>
                <a:ea typeface="IBM Plex Sans" pitchFamily="34" charset="-122"/>
                <a:cs typeface="IBM Plex Sans" pitchFamily="34" charset="-120"/>
              </a:rPr>
              <a:t>Ops takes the pager, but can hand it back</a:t>
            </a:r>
            <a:endParaRPr lang="en-US" sz="1300" dirty="0"/>
          </a:p>
        </p:txBody>
      </p:sp>
      <p:sp>
        <p:nvSpPr>
          <p:cNvPr id="19" name="Text 14"/>
          <p:cNvSpPr/>
          <p:nvPr/>
        </p:nvSpPr>
        <p:spPr>
          <a:xfrm>
            <a:off x="812800" y="37719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Review checks include:</a:t>
            </a:r>
            <a:endParaRPr lang="en-US" sz="1500" dirty="0"/>
          </a:p>
        </p:txBody>
      </p:sp>
      <p:sp>
        <p:nvSpPr>
          <p:cNvPr id="20" name="Text 15"/>
          <p:cNvSpPr/>
          <p:nvPr/>
        </p:nvSpPr>
        <p:spPr>
          <a:xfrm>
            <a:off x="812800" y="4165600"/>
            <a:ext cx="2866827" cy="383540"/>
          </a:xfrm>
          <a:prstGeom prst="roundRect">
            <a:avLst>
              <a:gd name="adj" fmla="val 50000"/>
            </a:avLst>
          </a:prstGeom>
          <a:solidFill>
            <a:srgbClr val="ECEAE3"/>
          </a:solidFill>
          <a:ln/>
        </p:spPr>
        <p:txBody>
          <a:bodyPr wrap="none" lIns="0" tIns="0" rIns="0" bIns="0" rtlCol="0" anchor="ctr">
            <a:normAutofit/>
          </a:bodyPr>
          <a:lstStyle/>
          <a:p>
            <a:pPr marL="0" indent="0" algn="ctr">
              <a:lnSpc>
                <a:spcPts val="1820"/>
              </a:lnSpc>
              <a:buNone/>
            </a:pPr>
            <a:r>
              <a:rPr lang="en-US" sz="1300" dirty="0">
                <a:solidFill>
                  <a:srgbClr val="14213D"/>
                </a:solidFill>
                <a:latin typeface="IBM Plex Sans" pitchFamily="34" charset="0"/>
                <a:ea typeface="IBM Plex Sans" pitchFamily="34" charset="-122"/>
                <a:cs typeface="IBM Plex Sans" pitchFamily="34" charset="-120"/>
              </a:rPr>
              <a:t>Type and frequency of pager alerts</a:t>
            </a:r>
            <a:endParaRPr lang="en-US" sz="1300" dirty="0"/>
          </a:p>
        </p:txBody>
      </p:sp>
      <p:sp>
        <p:nvSpPr>
          <p:cNvPr id="21" name="Text 16"/>
          <p:cNvSpPr/>
          <p:nvPr/>
        </p:nvSpPr>
        <p:spPr>
          <a:xfrm>
            <a:off x="3781227" y="4165600"/>
            <a:ext cx="1806575" cy="383540"/>
          </a:xfrm>
          <a:prstGeom prst="roundRect">
            <a:avLst>
              <a:gd name="adj" fmla="val 50000"/>
            </a:avLst>
          </a:prstGeom>
          <a:solidFill>
            <a:srgbClr val="ECEAE3"/>
          </a:solidFill>
          <a:ln/>
        </p:spPr>
        <p:txBody>
          <a:bodyPr wrap="none" lIns="0" tIns="0" rIns="0" bIns="0" rtlCol="0" anchor="ctr">
            <a:normAutofit/>
          </a:bodyPr>
          <a:lstStyle/>
          <a:p>
            <a:pPr marL="0" indent="0" algn="ctr">
              <a:lnSpc>
                <a:spcPts val="1820"/>
              </a:lnSpc>
              <a:buNone/>
            </a:pPr>
            <a:r>
              <a:rPr lang="en-US" sz="1300" dirty="0">
                <a:solidFill>
                  <a:srgbClr val="14213D"/>
                </a:solidFill>
                <a:latin typeface="IBM Plex Sans" pitchFamily="34" charset="0"/>
                <a:ea typeface="IBM Plex Sans" pitchFamily="34" charset="-122"/>
                <a:cs typeface="IBM Plex Sans" pitchFamily="34" charset="-120"/>
              </a:rPr>
              <a:t>Monitoring coverage</a:t>
            </a:r>
            <a:endParaRPr lang="en-US" sz="1300" dirty="0"/>
          </a:p>
        </p:txBody>
      </p:sp>
      <p:sp>
        <p:nvSpPr>
          <p:cNvPr id="22" name="Text 17"/>
          <p:cNvSpPr/>
          <p:nvPr/>
        </p:nvSpPr>
        <p:spPr>
          <a:xfrm>
            <a:off x="5689402" y="4165600"/>
            <a:ext cx="2268180" cy="383540"/>
          </a:xfrm>
          <a:prstGeom prst="roundRect">
            <a:avLst>
              <a:gd name="adj" fmla="val 50000"/>
            </a:avLst>
          </a:prstGeom>
          <a:solidFill>
            <a:srgbClr val="ECEAE3"/>
          </a:solidFill>
          <a:ln/>
        </p:spPr>
        <p:txBody>
          <a:bodyPr wrap="none" lIns="0" tIns="0" rIns="0" bIns="0" rtlCol="0" anchor="ctr">
            <a:normAutofit/>
          </a:bodyPr>
          <a:lstStyle/>
          <a:p>
            <a:pPr marL="0" indent="0" algn="ctr">
              <a:lnSpc>
                <a:spcPts val="1820"/>
              </a:lnSpc>
              <a:buNone/>
            </a:pPr>
            <a:r>
              <a:rPr lang="en-US" sz="1300" dirty="0">
                <a:solidFill>
                  <a:srgbClr val="14213D"/>
                </a:solidFill>
                <a:latin typeface="IBM Plex Sans" pitchFamily="34" charset="0"/>
                <a:ea typeface="IBM Plex Sans" pitchFamily="34" charset="-122"/>
                <a:cs typeface="IBM Plex Sans" pitchFamily="34" charset="-120"/>
              </a:rPr>
              <a:t>Defect counts and severity</a:t>
            </a:r>
            <a:endParaRPr lang="en-US" sz="1300" dirty="0"/>
          </a:p>
        </p:txBody>
      </p:sp>
      <p:sp>
        <p:nvSpPr>
          <p:cNvPr id="23" name="Text 18"/>
          <p:cNvSpPr/>
          <p:nvPr/>
        </p:nvSpPr>
        <p:spPr>
          <a:xfrm>
            <a:off x="8059182" y="4165600"/>
            <a:ext cx="2676168" cy="383540"/>
          </a:xfrm>
          <a:prstGeom prst="roundRect">
            <a:avLst>
              <a:gd name="adj" fmla="val 50000"/>
            </a:avLst>
          </a:prstGeom>
          <a:solidFill>
            <a:srgbClr val="ECEAE3"/>
          </a:solidFill>
          <a:ln/>
        </p:spPr>
        <p:txBody>
          <a:bodyPr wrap="none" lIns="0" tIns="0" rIns="0" bIns="0" rtlCol="0" anchor="ctr">
            <a:normAutofit/>
          </a:bodyPr>
          <a:lstStyle/>
          <a:p>
            <a:pPr marL="0" indent="0" algn="ctr">
              <a:lnSpc>
                <a:spcPts val="1820"/>
              </a:lnSpc>
              <a:buNone/>
            </a:pPr>
            <a:r>
              <a:rPr lang="en-US" sz="1300" dirty="0">
                <a:solidFill>
                  <a:srgbClr val="14213D"/>
                </a:solidFill>
                <a:latin typeface="IBM Plex Sans" pitchFamily="34" charset="0"/>
                <a:ea typeface="IBM Plex Sans" pitchFamily="34" charset="-122"/>
                <a:cs typeface="IBM Plex Sans" pitchFamily="34" charset="-120"/>
              </a:rPr>
              <a:t>Automated deployment process</a:t>
            </a:r>
            <a:endParaRPr lang="en-US" sz="1300" dirty="0"/>
          </a:p>
        </p:txBody>
      </p:sp>
      <p:sp>
        <p:nvSpPr>
          <p:cNvPr id="24" name="Text 19"/>
          <p:cNvSpPr/>
          <p:nvPr/>
        </p:nvSpPr>
        <p:spPr>
          <a:xfrm>
            <a:off x="812800" y="4650741"/>
            <a:ext cx="1725851" cy="383540"/>
          </a:xfrm>
          <a:prstGeom prst="roundRect">
            <a:avLst>
              <a:gd name="adj" fmla="val 50000"/>
            </a:avLst>
          </a:prstGeom>
          <a:solidFill>
            <a:srgbClr val="ECEAE3"/>
          </a:solidFill>
          <a:ln/>
        </p:spPr>
        <p:txBody>
          <a:bodyPr wrap="none" lIns="0" tIns="0" rIns="0" bIns="0" rtlCol="0" anchor="ctr">
            <a:normAutofit/>
          </a:bodyPr>
          <a:lstStyle/>
          <a:p>
            <a:pPr marL="0" indent="0" algn="ctr">
              <a:lnSpc>
                <a:spcPts val="1820"/>
              </a:lnSpc>
              <a:buNone/>
            </a:pPr>
            <a:r>
              <a:rPr lang="en-US" sz="1300" dirty="0">
                <a:solidFill>
                  <a:srgbClr val="14213D"/>
                </a:solidFill>
                <a:latin typeface="IBM Plex Sans" pitchFamily="34" charset="0"/>
                <a:ea typeface="IBM Plex Sans" pitchFamily="34" charset="-122"/>
                <a:cs typeface="IBM Plex Sans" pitchFamily="34" charset="-120"/>
              </a:rPr>
              <a:t>Production hygiene</a:t>
            </a:r>
            <a:endParaRPr lang="en-US" sz="1300" dirty="0"/>
          </a:p>
        </p:txBody>
      </p:sp>
      <p:sp>
        <p:nvSpPr>
          <p:cNvPr id="25" name="Text 20"/>
          <p:cNvSpPr/>
          <p:nvPr/>
        </p:nvSpPr>
        <p:spPr>
          <a:xfrm>
            <a:off x="812800" y="6238239"/>
            <a:ext cx="76855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878"/>
                </a:solidFill>
                <a:latin typeface="IBM Plex Sans" pitchFamily="34" charset="0"/>
                <a:ea typeface="IBM Plex Sans" pitchFamily="34" charset="-122"/>
                <a:cs typeface="IBM Plex Sans" pitchFamily="34" charset="-120"/>
              </a:rPr>
              <a:t>Source: Kim et al. (2021), Chapter 16, “The Launch and HandOff Readiness Review at Google”</a:t>
            </a:r>
            <a:endParaRPr lang="en-US" sz="1200" dirty="0"/>
          </a:p>
        </p:txBody>
      </p:sp>
      <p:sp>
        <p:nvSpPr>
          <p:cNvPr id="26" name="Text 21"/>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878"/>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24A16"/>
                </a:solidFill>
                <a:latin typeface="JetBrains Mono" pitchFamily="49" charset="0"/>
                <a:ea typeface="JetBrains Mono" pitchFamily="49" charset="-122"/>
                <a:cs typeface="JetBrains Mono" pitchFamily="49" charset="-120"/>
              </a:rPr>
              <a:t>BEST PRACTICE 1: SUSTAINABLE LOAD</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Google’s limits on on-call work</a:t>
            </a:r>
            <a:endParaRPr lang="en-US" sz="3600" dirty="0"/>
          </a:p>
        </p:txBody>
      </p:sp>
      <p:sp>
        <p:nvSpPr>
          <p:cNvPr id="4" name="Shape 2"/>
          <p:cNvSpPr/>
          <p:nvPr/>
        </p:nvSpPr>
        <p:spPr>
          <a:xfrm>
            <a:off x="812800" y="1986282"/>
            <a:ext cx="2508250" cy="3855720"/>
          </a:xfrm>
          <a:prstGeom prst="roundRect">
            <a:avLst>
              <a:gd name="adj" fmla="val 4051"/>
            </a:avLst>
          </a:prstGeom>
          <a:solidFill>
            <a:srgbClr val="FDFCFA"/>
          </a:solidFill>
          <a:ln/>
        </p:spPr>
        <p:txBody>
          <a:bodyPr/>
          <a:lstStyle/>
          <a:p>
            <a:endParaRPr lang="en-US"/>
          </a:p>
        </p:txBody>
      </p:sp>
      <p:sp>
        <p:nvSpPr>
          <p:cNvPr id="5" name="Shape 3"/>
          <p:cNvSpPr/>
          <p:nvPr/>
        </p:nvSpPr>
        <p:spPr>
          <a:xfrm>
            <a:off x="812800" y="1986282"/>
            <a:ext cx="2508250" cy="3855720"/>
          </a:xfrm>
          <a:custGeom>
            <a:avLst/>
            <a:gdLst/>
            <a:ahLst/>
            <a:cxnLst/>
            <a:rect l="l" t="t" r="r" b="b"/>
            <a:pathLst>
              <a:path w="2508250" h="3855720">
                <a:moveTo>
                  <a:pt x="0" y="101600"/>
                </a:moveTo>
                <a:lnTo>
                  <a:pt x="0" y="101600"/>
                </a:lnTo>
                <a:arcTo wR="101600" hR="101600" stAng="10800000" swAng="5400000"/>
                <a:lnTo>
                  <a:pt x="2406650" y="0"/>
                </a:lnTo>
                <a:arcTo wR="101600" hR="101600" stAng="16200000" swAng="5400000"/>
                <a:lnTo>
                  <a:pt x="2508250" y="101600"/>
                </a:lnTo>
                <a:arcTo wR="101600" hR="50800" stAng="0" swAng="-5400000"/>
                <a:lnTo>
                  <a:pt x="101600" y="50800"/>
                </a:lnTo>
                <a:arcTo wR="101600" hR="50800" stAng="16200000" swAng="-5400000"/>
                <a:close/>
              </a:path>
            </a:pathLst>
          </a:custGeom>
          <a:solidFill>
            <a:srgbClr val="A24A16"/>
          </a:solidFill>
          <a:ln/>
        </p:spPr>
        <p:txBody>
          <a:bodyPr/>
          <a:lstStyle/>
          <a:p>
            <a:endParaRPr lang="en-US"/>
          </a:p>
        </p:txBody>
      </p:sp>
      <p:sp>
        <p:nvSpPr>
          <p:cNvPr id="6" name="Text 4"/>
          <p:cNvSpPr/>
          <p:nvPr/>
        </p:nvSpPr>
        <p:spPr>
          <a:xfrm>
            <a:off x="1092200" y="2316482"/>
            <a:ext cx="200793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JetBrains Mono" pitchFamily="49" charset="0"/>
                <a:ea typeface="JetBrains Mono" pitchFamily="49" charset="-122"/>
                <a:cs typeface="JetBrains Mono" pitchFamily="49" charset="-120"/>
              </a:rPr>
              <a:t>25%</a:t>
            </a:r>
            <a:endParaRPr lang="en-US" sz="4800" dirty="0"/>
          </a:p>
        </p:txBody>
      </p:sp>
      <p:sp>
        <p:nvSpPr>
          <p:cNvPr id="7" name="Text 5"/>
          <p:cNvSpPr/>
          <p:nvPr/>
        </p:nvSpPr>
        <p:spPr>
          <a:xfrm>
            <a:off x="1092200" y="3053082"/>
            <a:ext cx="2007933" cy="131445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A5C"/>
                </a:solidFill>
                <a:latin typeface="IBM Plex Sans" pitchFamily="34" charset="0"/>
                <a:ea typeface="IBM Plex Sans" pitchFamily="34" charset="-122"/>
                <a:cs typeface="IBM Plex Sans" pitchFamily="34" charset="-120"/>
              </a:rPr>
              <a:t>Maximum share of an engineer’s time spent on call. At least 50% goes to engineering work.</a:t>
            </a:r>
            <a:endParaRPr lang="en-US" sz="1400" dirty="0"/>
          </a:p>
        </p:txBody>
      </p:sp>
      <p:sp>
        <p:nvSpPr>
          <p:cNvPr id="8" name="Shape 6"/>
          <p:cNvSpPr/>
          <p:nvPr/>
        </p:nvSpPr>
        <p:spPr>
          <a:xfrm>
            <a:off x="3498850" y="1986282"/>
            <a:ext cx="2508250" cy="3855720"/>
          </a:xfrm>
          <a:prstGeom prst="roundRect">
            <a:avLst>
              <a:gd name="adj" fmla="val 4051"/>
            </a:avLst>
          </a:prstGeom>
          <a:solidFill>
            <a:srgbClr val="FDFCFA"/>
          </a:solidFill>
          <a:ln/>
        </p:spPr>
        <p:txBody>
          <a:bodyPr/>
          <a:lstStyle/>
          <a:p>
            <a:endParaRPr lang="en-US"/>
          </a:p>
        </p:txBody>
      </p:sp>
      <p:sp>
        <p:nvSpPr>
          <p:cNvPr id="9" name="Shape 7"/>
          <p:cNvSpPr/>
          <p:nvPr/>
        </p:nvSpPr>
        <p:spPr>
          <a:xfrm>
            <a:off x="3498850" y="1986282"/>
            <a:ext cx="2508250" cy="3855720"/>
          </a:xfrm>
          <a:custGeom>
            <a:avLst/>
            <a:gdLst/>
            <a:ahLst/>
            <a:cxnLst/>
            <a:rect l="l" t="t" r="r" b="b"/>
            <a:pathLst>
              <a:path w="2508250" h="3855720">
                <a:moveTo>
                  <a:pt x="0" y="101600"/>
                </a:moveTo>
                <a:lnTo>
                  <a:pt x="0" y="101600"/>
                </a:lnTo>
                <a:arcTo wR="101600" hR="101600" stAng="10800000" swAng="5400000"/>
                <a:lnTo>
                  <a:pt x="2406650" y="0"/>
                </a:lnTo>
                <a:arcTo wR="101600" hR="101600" stAng="16200000" swAng="5400000"/>
                <a:lnTo>
                  <a:pt x="2508250" y="101600"/>
                </a:lnTo>
                <a:arcTo wR="101600" hR="50800" stAng="0" swAng="-5400000"/>
                <a:lnTo>
                  <a:pt x="101600" y="50800"/>
                </a:lnTo>
                <a:arcTo wR="101600" hR="50800" stAng="16200000" swAng="-5400000"/>
                <a:close/>
              </a:path>
            </a:pathLst>
          </a:custGeom>
          <a:solidFill>
            <a:srgbClr val="A24A16"/>
          </a:solidFill>
          <a:ln/>
        </p:spPr>
        <p:txBody>
          <a:bodyPr/>
          <a:lstStyle/>
          <a:p>
            <a:endParaRPr lang="en-US"/>
          </a:p>
        </p:txBody>
      </p:sp>
      <p:sp>
        <p:nvSpPr>
          <p:cNvPr id="10" name="Text 8"/>
          <p:cNvSpPr/>
          <p:nvPr/>
        </p:nvSpPr>
        <p:spPr>
          <a:xfrm>
            <a:off x="3778250" y="2316482"/>
            <a:ext cx="200793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JetBrains Mono" pitchFamily="49" charset="0"/>
                <a:ea typeface="JetBrains Mono" pitchFamily="49" charset="-122"/>
                <a:cs typeface="JetBrains Mono" pitchFamily="49" charset="-120"/>
              </a:rPr>
              <a:t>2</a:t>
            </a:r>
            <a:endParaRPr lang="en-US" sz="4800" dirty="0"/>
          </a:p>
        </p:txBody>
      </p:sp>
      <p:sp>
        <p:nvSpPr>
          <p:cNvPr id="11" name="Text 9"/>
          <p:cNvSpPr/>
          <p:nvPr/>
        </p:nvSpPr>
        <p:spPr>
          <a:xfrm>
            <a:off x="3778250" y="3053082"/>
            <a:ext cx="2007933" cy="105664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A5C"/>
                </a:solidFill>
                <a:latin typeface="IBM Plex Sans" pitchFamily="34" charset="0"/>
                <a:ea typeface="IBM Plex Sans" pitchFamily="34" charset="-122"/>
                <a:cs typeface="IBM Plex Sans" pitchFamily="34" charset="-120"/>
              </a:rPr>
              <a:t>Maximum incidents per 12-hour shift, so each one gets a proper fix and a postmortem.</a:t>
            </a:r>
            <a:endParaRPr lang="en-US" sz="1400" dirty="0"/>
          </a:p>
        </p:txBody>
      </p:sp>
      <p:sp>
        <p:nvSpPr>
          <p:cNvPr id="12" name="Shape 10"/>
          <p:cNvSpPr/>
          <p:nvPr/>
        </p:nvSpPr>
        <p:spPr>
          <a:xfrm>
            <a:off x="6184900" y="1986282"/>
            <a:ext cx="2508250" cy="3855720"/>
          </a:xfrm>
          <a:prstGeom prst="roundRect">
            <a:avLst>
              <a:gd name="adj" fmla="val 4051"/>
            </a:avLst>
          </a:prstGeom>
          <a:solidFill>
            <a:srgbClr val="FDFCFA"/>
          </a:solidFill>
          <a:ln/>
        </p:spPr>
        <p:txBody>
          <a:bodyPr/>
          <a:lstStyle/>
          <a:p>
            <a:endParaRPr lang="en-US"/>
          </a:p>
        </p:txBody>
      </p:sp>
      <p:sp>
        <p:nvSpPr>
          <p:cNvPr id="13" name="Shape 11"/>
          <p:cNvSpPr/>
          <p:nvPr/>
        </p:nvSpPr>
        <p:spPr>
          <a:xfrm>
            <a:off x="6184900" y="1986282"/>
            <a:ext cx="2508250" cy="3855720"/>
          </a:xfrm>
          <a:custGeom>
            <a:avLst/>
            <a:gdLst/>
            <a:ahLst/>
            <a:cxnLst/>
            <a:rect l="l" t="t" r="r" b="b"/>
            <a:pathLst>
              <a:path w="2508250" h="3855720">
                <a:moveTo>
                  <a:pt x="0" y="101600"/>
                </a:moveTo>
                <a:lnTo>
                  <a:pt x="0" y="101600"/>
                </a:lnTo>
                <a:arcTo wR="101600" hR="101600" stAng="10800000" swAng="5400000"/>
                <a:lnTo>
                  <a:pt x="2406650" y="0"/>
                </a:lnTo>
                <a:arcTo wR="101600" hR="101600" stAng="16200000" swAng="5400000"/>
                <a:lnTo>
                  <a:pt x="2508250" y="101600"/>
                </a:lnTo>
                <a:arcTo wR="101600" hR="50800" stAng="0" swAng="-5400000"/>
                <a:lnTo>
                  <a:pt x="101600" y="50800"/>
                </a:lnTo>
                <a:arcTo wR="101600" hR="50800" stAng="16200000" swAng="-5400000"/>
                <a:close/>
              </a:path>
            </a:pathLst>
          </a:custGeom>
          <a:solidFill>
            <a:srgbClr val="A24A16"/>
          </a:solidFill>
          <a:ln/>
        </p:spPr>
        <p:txBody>
          <a:bodyPr/>
          <a:lstStyle/>
          <a:p>
            <a:endParaRPr lang="en-US"/>
          </a:p>
        </p:txBody>
      </p:sp>
      <p:sp>
        <p:nvSpPr>
          <p:cNvPr id="14" name="Text 12"/>
          <p:cNvSpPr/>
          <p:nvPr/>
        </p:nvSpPr>
        <p:spPr>
          <a:xfrm>
            <a:off x="6464300" y="2316482"/>
            <a:ext cx="200793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JetBrains Mono" pitchFamily="49" charset="0"/>
                <a:ea typeface="JetBrains Mono" pitchFamily="49" charset="-122"/>
                <a:cs typeface="JetBrains Mono" pitchFamily="49" charset="-120"/>
              </a:rPr>
              <a:t>8</a:t>
            </a:r>
            <a:endParaRPr lang="en-US" sz="4800" dirty="0"/>
          </a:p>
        </p:txBody>
      </p:sp>
      <p:sp>
        <p:nvSpPr>
          <p:cNvPr id="15" name="Text 13"/>
          <p:cNvSpPr/>
          <p:nvPr/>
        </p:nvSpPr>
        <p:spPr>
          <a:xfrm>
            <a:off x="6464300" y="3053082"/>
            <a:ext cx="2007933" cy="105664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A5C"/>
                </a:solidFill>
                <a:latin typeface="IBM Plex Sans" pitchFamily="34" charset="0"/>
                <a:ea typeface="IBM Plex Sans" pitchFamily="34" charset="-122"/>
                <a:cs typeface="IBM Plex Sans" pitchFamily="34" charset="-120"/>
              </a:rPr>
              <a:t>Minimum engineers for a 24/7 single-site rotation, or 6 per site with two sites.</a:t>
            </a:r>
            <a:endParaRPr lang="en-US" sz="1400" dirty="0"/>
          </a:p>
        </p:txBody>
      </p:sp>
      <p:sp>
        <p:nvSpPr>
          <p:cNvPr id="16" name="Shape 14"/>
          <p:cNvSpPr/>
          <p:nvPr/>
        </p:nvSpPr>
        <p:spPr>
          <a:xfrm>
            <a:off x="8870950" y="1986282"/>
            <a:ext cx="2508250" cy="3855720"/>
          </a:xfrm>
          <a:prstGeom prst="roundRect">
            <a:avLst>
              <a:gd name="adj" fmla="val 4051"/>
            </a:avLst>
          </a:prstGeom>
          <a:solidFill>
            <a:srgbClr val="FDFCFA"/>
          </a:solidFill>
          <a:ln/>
        </p:spPr>
        <p:txBody>
          <a:bodyPr/>
          <a:lstStyle/>
          <a:p>
            <a:endParaRPr lang="en-US"/>
          </a:p>
        </p:txBody>
      </p:sp>
      <p:sp>
        <p:nvSpPr>
          <p:cNvPr id="17" name="Shape 15"/>
          <p:cNvSpPr/>
          <p:nvPr/>
        </p:nvSpPr>
        <p:spPr>
          <a:xfrm>
            <a:off x="8870950" y="1986282"/>
            <a:ext cx="2508250" cy="3855720"/>
          </a:xfrm>
          <a:custGeom>
            <a:avLst/>
            <a:gdLst/>
            <a:ahLst/>
            <a:cxnLst/>
            <a:rect l="l" t="t" r="r" b="b"/>
            <a:pathLst>
              <a:path w="2508250" h="3855720">
                <a:moveTo>
                  <a:pt x="0" y="101600"/>
                </a:moveTo>
                <a:lnTo>
                  <a:pt x="0" y="101600"/>
                </a:lnTo>
                <a:arcTo wR="101600" hR="101600" stAng="10800000" swAng="5400000"/>
                <a:lnTo>
                  <a:pt x="2406650" y="0"/>
                </a:lnTo>
                <a:arcTo wR="101600" hR="101600" stAng="16200000" swAng="5400000"/>
                <a:lnTo>
                  <a:pt x="2508250" y="101600"/>
                </a:lnTo>
                <a:arcTo wR="101600" hR="50800" stAng="0" swAng="-5400000"/>
                <a:lnTo>
                  <a:pt x="101600" y="50800"/>
                </a:lnTo>
                <a:arcTo wR="101600" hR="50800" stAng="16200000" swAng="-5400000"/>
                <a:close/>
              </a:path>
            </a:pathLst>
          </a:custGeom>
          <a:solidFill>
            <a:srgbClr val="A24A16"/>
          </a:solidFill>
          <a:ln/>
        </p:spPr>
        <p:txBody>
          <a:bodyPr/>
          <a:lstStyle/>
          <a:p>
            <a:endParaRPr lang="en-US"/>
          </a:p>
        </p:txBody>
      </p:sp>
      <p:sp>
        <p:nvSpPr>
          <p:cNvPr id="18" name="Text 16"/>
          <p:cNvSpPr/>
          <p:nvPr/>
        </p:nvSpPr>
        <p:spPr>
          <a:xfrm>
            <a:off x="9150350" y="2316482"/>
            <a:ext cx="200793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JetBrains Mono" pitchFamily="49" charset="0"/>
                <a:ea typeface="JetBrains Mono" pitchFamily="49" charset="-122"/>
                <a:cs typeface="JetBrains Mono" pitchFamily="49" charset="-120"/>
              </a:rPr>
              <a:t>5 min</a:t>
            </a:r>
            <a:endParaRPr lang="en-US" sz="4800" dirty="0"/>
          </a:p>
        </p:txBody>
      </p:sp>
      <p:sp>
        <p:nvSpPr>
          <p:cNvPr id="19" name="Text 17"/>
          <p:cNvSpPr/>
          <p:nvPr/>
        </p:nvSpPr>
        <p:spPr>
          <a:xfrm>
            <a:off x="9150350" y="3053082"/>
            <a:ext cx="2007933" cy="105664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A5C"/>
                </a:solidFill>
                <a:latin typeface="IBM Plex Sans" pitchFamily="34" charset="0"/>
                <a:ea typeface="IBM Plex Sans" pitchFamily="34" charset="-122"/>
                <a:cs typeface="IBM Plex Sans" pitchFamily="34" charset="-120"/>
              </a:rPr>
              <a:t>Response time for user-facing services; 30 minutes for less time-critical ones.</a:t>
            </a:r>
            <a:endParaRPr lang="en-US" sz="1400" dirty="0"/>
          </a:p>
        </p:txBody>
      </p:sp>
      <p:sp>
        <p:nvSpPr>
          <p:cNvPr id="20" name="Text 18"/>
          <p:cNvSpPr/>
          <p:nvPr/>
        </p:nvSpPr>
        <p:spPr>
          <a:xfrm>
            <a:off x="812800" y="6238239"/>
            <a:ext cx="45970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878"/>
                </a:solidFill>
                <a:latin typeface="IBM Plex Sans" pitchFamily="34" charset="0"/>
                <a:ea typeface="IBM Plex Sans" pitchFamily="34" charset="-122"/>
                <a:cs typeface="IBM Plex Sans" pitchFamily="34" charset="-120"/>
              </a:rPr>
              <a:t>Source: Beyer et al. (2016), Chapter 11, “Being On-Call”</a:t>
            </a:r>
            <a:endParaRPr lang="en-US" sz="1200" dirty="0"/>
          </a:p>
        </p:txBody>
      </p:sp>
      <p:sp>
        <p:nvSpPr>
          <p:cNvPr id="21" name="Text 19"/>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87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24A16"/>
                </a:solidFill>
                <a:latin typeface="JetBrains Mono" pitchFamily="49" charset="0"/>
                <a:ea typeface="JetBrains Mono" pitchFamily="49" charset="-122"/>
                <a:cs typeface="JetBrains Mono" pitchFamily="49" charset="-120"/>
              </a:rPr>
              <a:t>BEST PRACTICE 2: SCHEDULING</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Pick a shift length that fits the team</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8982"/>
          <a:ext cx="6388100" cy="2330450"/>
        </p:xfrm>
        <a:graphic>
          <a:graphicData uri="http://schemas.openxmlformats.org/drawingml/2006/table">
            <a:tbl>
              <a:tblPr/>
              <a:tblGrid>
                <a:gridCol w="1788668">
                  <a:extLst>
                    <a:ext uri="{9D8B030D-6E8A-4147-A177-3AD203B41FA5}">
                      <a16:colId xmlns:a16="http://schemas.microsoft.com/office/drawing/2014/main" val="20000"/>
                    </a:ext>
                  </a:extLst>
                </a:gridCol>
                <a:gridCol w="4599432">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F7F6F2"/>
                          </a:solidFill>
                          <a:latin typeface="IBM Plex Sans" pitchFamily="34" charset="0"/>
                          <a:ea typeface="IBM Plex Sans" pitchFamily="34" charset="-122"/>
                          <a:cs typeface="IBM Plex Sans" pitchFamily="34" charset="-120"/>
                        </a:rPr>
                        <a:t>Shift length</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100"/>
                        </a:lnSpc>
                        <a:buNone/>
                      </a:pPr>
                      <a:r>
                        <a:rPr lang="en-US" sz="1500" b="1" dirty="0">
                          <a:solidFill>
                            <a:srgbClr val="F7F6F2"/>
                          </a:solidFill>
                          <a:latin typeface="IBM Plex Sans" pitchFamily="34" charset="0"/>
                          <a:ea typeface="IBM Plex Sans" pitchFamily="34" charset="-122"/>
                          <a:cs typeface="IBM Plex Sans" pitchFamily="34" charset="-120"/>
                        </a:rPr>
                        <a:t>Best fit</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794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8 hours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Business-day coverage, with another team covering nights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12 hours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Follow-the-sun teams in different time zones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1 day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Medium-sized teams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1 week</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Small teams that want fewer handoffs</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4"/>
                  </a:ext>
                </a:extLst>
              </a:tr>
            </a:tbl>
          </a:graphicData>
        </a:graphic>
      </p:graphicFrame>
      <p:sp>
        <p:nvSpPr>
          <p:cNvPr id="5" name="Shape 2"/>
          <p:cNvSpPr/>
          <p:nvPr/>
        </p:nvSpPr>
        <p:spPr>
          <a:xfrm>
            <a:off x="7572375" y="1989457"/>
            <a:ext cx="3803650" cy="3849370"/>
          </a:xfrm>
          <a:prstGeom prst="roundRect">
            <a:avLst>
              <a:gd name="adj" fmla="val 2588"/>
            </a:avLst>
          </a:prstGeom>
          <a:solidFill>
            <a:srgbClr val="FDFCFA"/>
          </a:solidFill>
          <a:ln w="6350">
            <a:solidFill>
              <a:srgbClr val="DDD9CF"/>
            </a:solidFill>
            <a:prstDash val="solid"/>
          </a:ln>
        </p:spPr>
        <p:txBody>
          <a:bodyPr/>
          <a:lstStyle/>
          <a:p>
            <a:endParaRPr lang="en-US"/>
          </a:p>
        </p:txBody>
      </p:sp>
      <p:sp>
        <p:nvSpPr>
          <p:cNvPr id="6" name="Text 3"/>
          <p:cNvSpPr/>
          <p:nvPr/>
        </p:nvSpPr>
        <p:spPr>
          <a:xfrm>
            <a:off x="7853680" y="2270761"/>
            <a:ext cx="333827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A24A16"/>
                </a:solidFill>
                <a:latin typeface="IBM Plex Sans" pitchFamily="34" charset="0"/>
                <a:ea typeface="IBM Plex Sans" pitchFamily="34" charset="-122"/>
                <a:cs typeface="IBM Plex Sans" pitchFamily="34" charset="-120"/>
              </a:rPr>
              <a:t>Handoff tips</a:t>
            </a:r>
            <a:endParaRPr lang="en-US" sz="1700" dirty="0"/>
          </a:p>
        </p:txBody>
      </p:sp>
      <p:sp>
        <p:nvSpPr>
          <p:cNvPr id="7" name="Text 4"/>
          <p:cNvSpPr/>
          <p:nvPr/>
        </p:nvSpPr>
        <p:spPr>
          <a:xfrm>
            <a:off x="7931912" y="2682239"/>
            <a:ext cx="3252419" cy="1830070"/>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3D4A5C"/>
                </a:solidFill>
                <a:latin typeface="IBM Plex Sans" pitchFamily="34" charset="0"/>
                <a:ea typeface="IBM Plex Sans" pitchFamily="34" charset="-122"/>
                <a:cs typeface="IBM Plex Sans" pitchFamily="34" charset="-120"/>
              </a:rPr>
              <a:t>Hand off on a weekday during business hours, not at midnight or on a weekend</a:t>
            </a:r>
            <a:endParaRPr lang="en-US" sz="1400" dirty="0"/>
          </a:p>
          <a:p>
            <a:pPr marL="175768" indent="-175768" algn="l">
              <a:lnSpc>
                <a:spcPts val="2030"/>
              </a:lnSpc>
              <a:buSzPct val="100000"/>
              <a:buChar char="•"/>
            </a:pPr>
            <a:r>
              <a:rPr lang="en-US" sz="1400" dirty="0">
                <a:solidFill>
                  <a:srgbClr val="3D4A5C"/>
                </a:solidFill>
                <a:latin typeface="IBM Plex Sans" pitchFamily="34" charset="0"/>
                <a:ea typeface="IBM Plex Sans" pitchFamily="34" charset="-122"/>
                <a:cs typeface="IBM Plex Sans" pitchFamily="34" charset="-120"/>
              </a:rPr>
              <a:t>Brief the next person on recent alerts and open issues</a:t>
            </a:r>
            <a:endParaRPr lang="en-US" sz="1400" dirty="0"/>
          </a:p>
          <a:p>
            <a:pPr marL="175768" indent="-175768" algn="l">
              <a:lnSpc>
                <a:spcPts val="2030"/>
              </a:lnSpc>
              <a:buSzPct val="100000"/>
              <a:buChar char="•"/>
            </a:pPr>
            <a:r>
              <a:rPr lang="en-US" sz="1400" dirty="0">
                <a:solidFill>
                  <a:srgbClr val="3D4A5C"/>
                </a:solidFill>
                <a:latin typeface="IBM Plex Sans" pitchFamily="34" charset="0"/>
                <a:ea typeface="IBM Plex Sans" pitchFamily="34" charset="-122"/>
                <a:cs typeface="IBM Plex Sans" pitchFamily="34" charset="-120"/>
              </a:rPr>
              <a:t>Pair a junior primary with a senior secondary</a:t>
            </a:r>
            <a:endParaRPr lang="en-US" sz="1400" dirty="0"/>
          </a:p>
        </p:txBody>
      </p:sp>
      <p:sp>
        <p:nvSpPr>
          <p:cNvPr id="8" name="Text 5"/>
          <p:cNvSpPr/>
          <p:nvPr/>
        </p:nvSpPr>
        <p:spPr>
          <a:xfrm>
            <a:off x="812800" y="6238239"/>
            <a:ext cx="42020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878"/>
                </a:solidFill>
                <a:latin typeface="IBM Plex Sans" pitchFamily="34" charset="0"/>
                <a:ea typeface="IBM Plex Sans" pitchFamily="34" charset="-122"/>
                <a:cs typeface="IBM Plex Sans" pitchFamily="34" charset="-120"/>
              </a:rPr>
              <a:t>Sources: Rose (2014), PagerDuty; Atlassian (n.d.-a)</a:t>
            </a:r>
            <a:endParaRPr lang="en-US" sz="1200" dirty="0"/>
          </a:p>
        </p:txBody>
      </p:sp>
      <p:sp>
        <p:nvSpPr>
          <p:cNvPr id="9" name="Text 6"/>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878"/>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24A16"/>
                </a:solidFill>
                <a:latin typeface="JetBrains Mono" pitchFamily="49" charset="0"/>
                <a:ea typeface="JetBrains Mono" pitchFamily="49" charset="-122"/>
                <a:cs typeface="JetBrains Mono" pitchFamily="49" charset="-120"/>
              </a:rPr>
              <a:t>BEST PRACTICE 3: ALERTING</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Every page should be worth waking up for</a:t>
            </a:r>
            <a:endParaRPr lang="en-US" sz="3600" dirty="0"/>
          </a:p>
        </p:txBody>
      </p:sp>
      <p:sp>
        <p:nvSpPr>
          <p:cNvPr id="4" name="Shape 2"/>
          <p:cNvSpPr/>
          <p:nvPr/>
        </p:nvSpPr>
        <p:spPr>
          <a:xfrm>
            <a:off x="815975" y="1989457"/>
            <a:ext cx="5187950" cy="1832610"/>
          </a:xfrm>
          <a:prstGeom prst="roundRect">
            <a:avLst>
              <a:gd name="adj" fmla="val 5371"/>
            </a:avLst>
          </a:prstGeom>
          <a:solidFill>
            <a:srgbClr val="FDFCFA"/>
          </a:solidFill>
          <a:ln w="6350">
            <a:solidFill>
              <a:srgbClr val="DDD9CF"/>
            </a:solidFill>
            <a:prstDash val="solid"/>
          </a:ln>
        </p:spPr>
        <p:txBody>
          <a:bodyPr/>
          <a:lstStyle/>
          <a:p>
            <a:endParaRPr lang="en-US"/>
          </a:p>
        </p:txBody>
      </p:sp>
      <p:pic>
        <p:nvPicPr>
          <p:cNvPr id="5" name="Image 0" descr="Clock"/>
          <p:cNvPicPr>
            <a:picLocks noChangeAspect="1"/>
          </p:cNvPicPr>
          <p:nvPr/>
        </p:nvPicPr>
        <p:blipFill>
          <a:blip r:embed="rId3"/>
          <a:srcRect/>
          <a:stretch/>
        </p:blipFill>
        <p:spPr>
          <a:xfrm>
            <a:off x="1071880" y="2245361"/>
            <a:ext cx="355600" cy="355600"/>
          </a:xfrm>
          <a:prstGeom prst="rect">
            <a:avLst/>
          </a:prstGeom>
        </p:spPr>
      </p:pic>
      <p:sp>
        <p:nvSpPr>
          <p:cNvPr id="6" name="Text 3"/>
          <p:cNvSpPr/>
          <p:nvPr/>
        </p:nvSpPr>
        <p:spPr>
          <a:xfrm>
            <a:off x="1605280" y="2245361"/>
            <a:ext cx="426702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Route by urgency</a:t>
            </a:r>
            <a:endParaRPr lang="en-US" sz="1700" dirty="0"/>
          </a:p>
        </p:txBody>
      </p:sp>
      <p:sp>
        <p:nvSpPr>
          <p:cNvPr id="7" name="Text 4"/>
          <p:cNvSpPr/>
          <p:nvPr/>
        </p:nvSpPr>
        <p:spPr>
          <a:xfrm>
            <a:off x="1605280" y="2580639"/>
            <a:ext cx="4267022"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A5C"/>
                </a:solidFill>
                <a:latin typeface="IBM Plex Sans" pitchFamily="34" charset="0"/>
                <a:ea typeface="IBM Plex Sans" pitchFamily="34" charset="-122"/>
                <a:cs typeface="IBM Plex Sans" pitchFamily="34" charset="-120"/>
              </a:rPr>
              <a:t>Low-priority alerts wait until morning so people can sleep.</a:t>
            </a:r>
            <a:endParaRPr lang="en-US" sz="1400" dirty="0"/>
          </a:p>
        </p:txBody>
      </p:sp>
      <p:sp>
        <p:nvSpPr>
          <p:cNvPr id="8" name="Shape 5"/>
          <p:cNvSpPr/>
          <p:nvPr/>
        </p:nvSpPr>
        <p:spPr>
          <a:xfrm>
            <a:off x="6188075" y="1989457"/>
            <a:ext cx="5187950" cy="1832610"/>
          </a:xfrm>
          <a:prstGeom prst="roundRect">
            <a:avLst>
              <a:gd name="adj" fmla="val 5371"/>
            </a:avLst>
          </a:prstGeom>
          <a:solidFill>
            <a:srgbClr val="FDFCFA"/>
          </a:solidFill>
          <a:ln w="6350">
            <a:solidFill>
              <a:srgbClr val="DDD9CF"/>
            </a:solidFill>
            <a:prstDash val="solid"/>
          </a:ln>
        </p:spPr>
        <p:txBody>
          <a:bodyPr/>
          <a:lstStyle/>
          <a:p>
            <a:endParaRPr lang="en-US"/>
          </a:p>
        </p:txBody>
      </p:sp>
      <p:pic>
        <p:nvPicPr>
          <p:cNvPr id="9" name="Image 1" descr="Settings"/>
          <p:cNvPicPr>
            <a:picLocks noChangeAspect="1"/>
          </p:cNvPicPr>
          <p:nvPr/>
        </p:nvPicPr>
        <p:blipFill>
          <a:blip r:embed="rId4"/>
          <a:srcRect/>
          <a:stretch/>
        </p:blipFill>
        <p:spPr>
          <a:xfrm>
            <a:off x="6443980" y="2245361"/>
            <a:ext cx="355600" cy="355600"/>
          </a:xfrm>
          <a:prstGeom prst="rect">
            <a:avLst/>
          </a:prstGeom>
        </p:spPr>
      </p:pic>
      <p:sp>
        <p:nvSpPr>
          <p:cNvPr id="10" name="Text 6"/>
          <p:cNvSpPr/>
          <p:nvPr/>
        </p:nvSpPr>
        <p:spPr>
          <a:xfrm>
            <a:off x="6977380" y="2245361"/>
            <a:ext cx="426702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Cut the noise</a:t>
            </a:r>
            <a:endParaRPr lang="en-US" sz="1700" dirty="0"/>
          </a:p>
        </p:txBody>
      </p:sp>
      <p:sp>
        <p:nvSpPr>
          <p:cNvPr id="11" name="Text 7"/>
          <p:cNvSpPr/>
          <p:nvPr/>
        </p:nvSpPr>
        <p:spPr>
          <a:xfrm>
            <a:off x="6977380" y="2580639"/>
            <a:ext cx="4267022"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A5C"/>
                </a:solidFill>
                <a:latin typeface="IBM Plex Sans" pitchFamily="34" charset="0"/>
                <a:ea typeface="IBM Plex Sans" pitchFamily="34" charset="-122"/>
                <a:cs typeface="IBM Plex Sans" pitchFamily="34" charset="-120"/>
              </a:rPr>
              <a:t>De-duplicate related alerts and tune toward one alert per real incident.</a:t>
            </a:r>
            <a:endParaRPr lang="en-US" sz="1400" dirty="0"/>
          </a:p>
        </p:txBody>
      </p:sp>
      <p:sp>
        <p:nvSpPr>
          <p:cNvPr id="12" name="Shape 8"/>
          <p:cNvSpPr/>
          <p:nvPr/>
        </p:nvSpPr>
        <p:spPr>
          <a:xfrm>
            <a:off x="815975" y="4006214"/>
            <a:ext cx="5187950" cy="1832610"/>
          </a:xfrm>
          <a:prstGeom prst="roundRect">
            <a:avLst>
              <a:gd name="adj" fmla="val 5371"/>
            </a:avLst>
          </a:prstGeom>
          <a:solidFill>
            <a:srgbClr val="FDFCFA"/>
          </a:solidFill>
          <a:ln w="6350">
            <a:solidFill>
              <a:srgbClr val="DDD9CF"/>
            </a:solidFill>
            <a:prstDash val="solid"/>
          </a:ln>
        </p:spPr>
        <p:txBody>
          <a:bodyPr/>
          <a:lstStyle/>
          <a:p>
            <a:endParaRPr lang="en-US"/>
          </a:p>
        </p:txBody>
      </p:sp>
      <p:pic>
        <p:nvPicPr>
          <p:cNvPr id="13" name="Image 2" descr="Book"/>
          <p:cNvPicPr>
            <a:picLocks noChangeAspect="1"/>
          </p:cNvPicPr>
          <p:nvPr/>
        </p:nvPicPr>
        <p:blipFill>
          <a:blip r:embed="rId5"/>
          <a:srcRect/>
          <a:stretch/>
        </p:blipFill>
        <p:spPr>
          <a:xfrm>
            <a:off x="1071880" y="4262121"/>
            <a:ext cx="355600" cy="355600"/>
          </a:xfrm>
          <a:prstGeom prst="rect">
            <a:avLst/>
          </a:prstGeom>
        </p:spPr>
      </p:pic>
      <p:sp>
        <p:nvSpPr>
          <p:cNvPr id="14" name="Text 9"/>
          <p:cNvSpPr/>
          <p:nvPr/>
        </p:nvSpPr>
        <p:spPr>
          <a:xfrm>
            <a:off x="1605280" y="4262121"/>
            <a:ext cx="426702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Link a runbook</a:t>
            </a:r>
            <a:endParaRPr lang="en-US" sz="1700" dirty="0"/>
          </a:p>
        </p:txBody>
      </p:sp>
      <p:sp>
        <p:nvSpPr>
          <p:cNvPr id="15" name="Text 10"/>
          <p:cNvSpPr/>
          <p:nvPr/>
        </p:nvSpPr>
        <p:spPr>
          <a:xfrm>
            <a:off x="1605280" y="4597400"/>
            <a:ext cx="4267022"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A5C"/>
                </a:solidFill>
                <a:latin typeface="IBM Plex Sans" pitchFamily="34" charset="0"/>
                <a:ea typeface="IBM Plex Sans" pitchFamily="34" charset="-122"/>
                <a:cs typeface="IBM Plex Sans" pitchFamily="34" charset="-120"/>
              </a:rPr>
              <a:t>Each alert says what broke and points to the steps to fix it.</a:t>
            </a:r>
            <a:endParaRPr lang="en-US" sz="1400" dirty="0"/>
          </a:p>
        </p:txBody>
      </p:sp>
      <p:sp>
        <p:nvSpPr>
          <p:cNvPr id="16" name="Shape 11"/>
          <p:cNvSpPr/>
          <p:nvPr/>
        </p:nvSpPr>
        <p:spPr>
          <a:xfrm>
            <a:off x="6188075" y="4006214"/>
            <a:ext cx="5187950" cy="1832610"/>
          </a:xfrm>
          <a:prstGeom prst="roundRect">
            <a:avLst>
              <a:gd name="adj" fmla="val 5371"/>
            </a:avLst>
          </a:prstGeom>
          <a:solidFill>
            <a:srgbClr val="FDFCFA"/>
          </a:solidFill>
          <a:ln w="6350">
            <a:solidFill>
              <a:srgbClr val="DDD9CF"/>
            </a:solidFill>
            <a:prstDash val="solid"/>
          </a:ln>
        </p:spPr>
        <p:txBody>
          <a:bodyPr/>
          <a:lstStyle/>
          <a:p>
            <a:endParaRPr lang="en-US"/>
          </a:p>
        </p:txBody>
      </p:sp>
      <p:pic>
        <p:nvPicPr>
          <p:cNvPr id="17" name="Image 3" descr="Chart"/>
          <p:cNvPicPr>
            <a:picLocks noChangeAspect="1"/>
          </p:cNvPicPr>
          <p:nvPr/>
        </p:nvPicPr>
        <p:blipFill>
          <a:blip r:embed="rId6"/>
          <a:srcRect/>
          <a:stretch/>
        </p:blipFill>
        <p:spPr>
          <a:xfrm>
            <a:off x="6443980" y="4262121"/>
            <a:ext cx="355600" cy="355600"/>
          </a:xfrm>
          <a:prstGeom prst="rect">
            <a:avLst/>
          </a:prstGeom>
        </p:spPr>
      </p:pic>
      <p:sp>
        <p:nvSpPr>
          <p:cNvPr id="18" name="Text 12"/>
          <p:cNvSpPr/>
          <p:nvPr/>
        </p:nvSpPr>
        <p:spPr>
          <a:xfrm>
            <a:off x="6977380" y="4262121"/>
            <a:ext cx="426702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Mark every deploy</a:t>
            </a:r>
            <a:endParaRPr lang="en-US" sz="1700" dirty="0"/>
          </a:p>
        </p:txBody>
      </p:sp>
      <p:sp>
        <p:nvSpPr>
          <p:cNvPr id="19" name="Text 13"/>
          <p:cNvSpPr/>
          <p:nvPr/>
        </p:nvSpPr>
        <p:spPr>
          <a:xfrm>
            <a:off x="6977380" y="4597400"/>
            <a:ext cx="4267022"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A5C"/>
                </a:solidFill>
                <a:latin typeface="IBM Plex Sans" pitchFamily="34" charset="0"/>
                <a:ea typeface="IBM Plex Sans" pitchFamily="34" charset="-122"/>
                <a:cs typeface="IBM Plex Sans" pitchFamily="34" charset="-120"/>
              </a:rPr>
              <a:t>Show deployments on metric graphs so on-call can spot a bad release fast.</a:t>
            </a:r>
            <a:endParaRPr lang="en-US" sz="1400" dirty="0"/>
          </a:p>
        </p:txBody>
      </p:sp>
      <p:sp>
        <p:nvSpPr>
          <p:cNvPr id="20" name="Text 14"/>
          <p:cNvSpPr/>
          <p:nvPr/>
        </p:nvSpPr>
        <p:spPr>
          <a:xfrm>
            <a:off x="812800" y="6238239"/>
            <a:ext cx="52503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878"/>
                </a:solidFill>
                <a:latin typeface="IBM Plex Sans" pitchFamily="34" charset="0"/>
                <a:ea typeface="IBM Plex Sans" pitchFamily="34" charset="-122"/>
                <a:cs typeface="IBM Plex Sans" pitchFamily="34" charset="-120"/>
              </a:rPr>
              <a:t>Sources: Atlassian (n.d.-a); Beyer et al. (2016); Kim et al. (2021)</a:t>
            </a:r>
            <a:endParaRPr lang="en-US" sz="1200" dirty="0"/>
          </a:p>
        </p:txBody>
      </p:sp>
      <p:sp>
        <p:nvSpPr>
          <p:cNvPr id="21" name="Text 15"/>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878"/>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24A16"/>
                </a:solidFill>
                <a:latin typeface="JetBrains Mono" pitchFamily="49" charset="0"/>
                <a:ea typeface="JetBrains Mono" pitchFamily="49" charset="-122"/>
                <a:cs typeface="JetBrains Mono" pitchFamily="49" charset="-120"/>
              </a:rPr>
              <a:t>BEST PRACTICE 4: PEOPLE</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Protect the people who carry the pager</a:t>
            </a:r>
            <a:endParaRPr lang="en-US" sz="3600" dirty="0"/>
          </a:p>
        </p:txBody>
      </p:sp>
      <p:sp>
        <p:nvSpPr>
          <p:cNvPr id="4" name="Shape 2"/>
          <p:cNvSpPr/>
          <p:nvPr/>
        </p:nvSpPr>
        <p:spPr>
          <a:xfrm>
            <a:off x="812800" y="1986282"/>
            <a:ext cx="3403600" cy="1838960"/>
          </a:xfrm>
          <a:prstGeom prst="roundRect">
            <a:avLst>
              <a:gd name="adj" fmla="val 5525"/>
            </a:avLst>
          </a:prstGeom>
          <a:solidFill>
            <a:srgbClr val="FDFCFA"/>
          </a:solidFill>
          <a:ln/>
        </p:spPr>
        <p:txBody>
          <a:bodyPr/>
          <a:lstStyle/>
          <a:p>
            <a:endParaRPr lang="en-US"/>
          </a:p>
        </p:txBody>
      </p:sp>
      <p:sp>
        <p:nvSpPr>
          <p:cNvPr id="5" name="Text 3"/>
          <p:cNvSpPr/>
          <p:nvPr/>
        </p:nvSpPr>
        <p:spPr>
          <a:xfrm>
            <a:off x="1066800" y="2240282"/>
            <a:ext cx="298246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24A16"/>
                </a:solidFill>
                <a:latin typeface="IBM Plex Sans" pitchFamily="34" charset="0"/>
                <a:ea typeface="IBM Plex Sans" pitchFamily="34" charset="-122"/>
                <a:cs typeface="IBM Plex Sans" pitchFamily="34" charset="-120"/>
              </a:rPr>
              <a:t>No sprint work on call</a:t>
            </a:r>
            <a:endParaRPr lang="en-US" sz="1600" dirty="0"/>
          </a:p>
        </p:txBody>
      </p:sp>
      <p:sp>
        <p:nvSpPr>
          <p:cNvPr id="6" name="Text 4"/>
          <p:cNvSpPr/>
          <p:nvPr/>
        </p:nvSpPr>
        <p:spPr>
          <a:xfrm>
            <a:off x="1066800" y="2560321"/>
            <a:ext cx="29824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Use quiet time to improve runbooks and automation.</a:t>
            </a:r>
            <a:endParaRPr lang="en-US" sz="1400" dirty="0"/>
          </a:p>
        </p:txBody>
      </p:sp>
      <p:sp>
        <p:nvSpPr>
          <p:cNvPr id="7" name="Shape 5"/>
          <p:cNvSpPr/>
          <p:nvPr/>
        </p:nvSpPr>
        <p:spPr>
          <a:xfrm>
            <a:off x="4394200" y="1986282"/>
            <a:ext cx="3403600" cy="1838960"/>
          </a:xfrm>
          <a:prstGeom prst="roundRect">
            <a:avLst>
              <a:gd name="adj" fmla="val 5525"/>
            </a:avLst>
          </a:prstGeom>
          <a:solidFill>
            <a:srgbClr val="FDFCFA"/>
          </a:solidFill>
          <a:ln/>
        </p:spPr>
        <p:txBody>
          <a:bodyPr/>
          <a:lstStyle/>
          <a:p>
            <a:endParaRPr lang="en-US"/>
          </a:p>
        </p:txBody>
      </p:sp>
      <p:sp>
        <p:nvSpPr>
          <p:cNvPr id="8" name="Text 6"/>
          <p:cNvSpPr/>
          <p:nvPr/>
        </p:nvSpPr>
        <p:spPr>
          <a:xfrm>
            <a:off x="4648200" y="2240282"/>
            <a:ext cx="298246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24A16"/>
                </a:solidFill>
                <a:latin typeface="IBM Plex Sans" pitchFamily="34" charset="0"/>
                <a:ea typeface="IBM Plex Sans" pitchFamily="34" charset="-122"/>
                <a:cs typeface="IBM Plex Sans" pitchFamily="34" charset="-120"/>
              </a:rPr>
              <a:t>Train and shadow</a:t>
            </a:r>
            <a:endParaRPr lang="en-US" sz="1600" dirty="0"/>
          </a:p>
        </p:txBody>
      </p:sp>
      <p:sp>
        <p:nvSpPr>
          <p:cNvPr id="9" name="Text 7"/>
          <p:cNvSpPr/>
          <p:nvPr/>
        </p:nvSpPr>
        <p:spPr>
          <a:xfrm>
            <a:off x="4648200" y="2560321"/>
            <a:ext cx="29824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New engineers shadow a shift and read past incidents first.</a:t>
            </a:r>
            <a:endParaRPr lang="en-US" sz="1400" dirty="0"/>
          </a:p>
        </p:txBody>
      </p:sp>
      <p:sp>
        <p:nvSpPr>
          <p:cNvPr id="10" name="Shape 8"/>
          <p:cNvSpPr/>
          <p:nvPr/>
        </p:nvSpPr>
        <p:spPr>
          <a:xfrm>
            <a:off x="7975600" y="1986282"/>
            <a:ext cx="3403600" cy="1838960"/>
          </a:xfrm>
          <a:prstGeom prst="roundRect">
            <a:avLst>
              <a:gd name="adj" fmla="val 5525"/>
            </a:avLst>
          </a:prstGeom>
          <a:solidFill>
            <a:srgbClr val="FDFCFA"/>
          </a:solidFill>
          <a:ln/>
        </p:spPr>
        <p:txBody>
          <a:bodyPr/>
          <a:lstStyle/>
          <a:p>
            <a:endParaRPr lang="en-US"/>
          </a:p>
        </p:txBody>
      </p:sp>
      <p:sp>
        <p:nvSpPr>
          <p:cNvPr id="11" name="Text 9"/>
          <p:cNvSpPr/>
          <p:nvPr/>
        </p:nvSpPr>
        <p:spPr>
          <a:xfrm>
            <a:off x="8229600" y="2240282"/>
            <a:ext cx="298246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24A16"/>
                </a:solidFill>
                <a:latin typeface="IBM Plex Sans" pitchFamily="34" charset="0"/>
                <a:ea typeface="IBM Plex Sans" pitchFamily="34" charset="-122"/>
                <a:cs typeface="IBM Plex Sans" pitchFamily="34" charset="-120"/>
              </a:rPr>
              <a:t>Pay for it</a:t>
            </a:r>
            <a:endParaRPr lang="en-US" sz="1600" dirty="0"/>
          </a:p>
        </p:txBody>
      </p:sp>
      <p:sp>
        <p:nvSpPr>
          <p:cNvPr id="12" name="Text 10"/>
          <p:cNvSpPr/>
          <p:nvPr/>
        </p:nvSpPr>
        <p:spPr>
          <a:xfrm>
            <a:off x="8229600" y="2560321"/>
            <a:ext cx="29824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Offer time off in lieu or cash for after-hours duty.</a:t>
            </a:r>
            <a:endParaRPr lang="en-US" sz="1400" dirty="0"/>
          </a:p>
        </p:txBody>
      </p:sp>
      <p:sp>
        <p:nvSpPr>
          <p:cNvPr id="13" name="Shape 11"/>
          <p:cNvSpPr/>
          <p:nvPr/>
        </p:nvSpPr>
        <p:spPr>
          <a:xfrm>
            <a:off x="812800" y="4003039"/>
            <a:ext cx="3403600" cy="1838960"/>
          </a:xfrm>
          <a:prstGeom prst="roundRect">
            <a:avLst>
              <a:gd name="adj" fmla="val 5525"/>
            </a:avLst>
          </a:prstGeom>
          <a:solidFill>
            <a:srgbClr val="FDFCFA"/>
          </a:solidFill>
          <a:ln/>
        </p:spPr>
        <p:txBody>
          <a:bodyPr/>
          <a:lstStyle/>
          <a:p>
            <a:endParaRPr lang="en-US"/>
          </a:p>
        </p:txBody>
      </p:sp>
      <p:sp>
        <p:nvSpPr>
          <p:cNvPr id="14" name="Text 12"/>
          <p:cNvSpPr/>
          <p:nvPr/>
        </p:nvSpPr>
        <p:spPr>
          <a:xfrm>
            <a:off x="1066800" y="4257042"/>
            <a:ext cx="298246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24A16"/>
                </a:solidFill>
                <a:latin typeface="IBM Plex Sans" pitchFamily="34" charset="0"/>
                <a:ea typeface="IBM Plex Sans" pitchFamily="34" charset="-122"/>
                <a:cs typeface="IBM Plex Sans" pitchFamily="34" charset="-120"/>
              </a:rPr>
              <a:t>Allow recovery</a:t>
            </a:r>
            <a:endParaRPr lang="en-US" sz="1600" dirty="0"/>
          </a:p>
        </p:txBody>
      </p:sp>
      <p:sp>
        <p:nvSpPr>
          <p:cNvPr id="15" name="Text 13"/>
          <p:cNvSpPr/>
          <p:nvPr/>
        </p:nvSpPr>
        <p:spPr>
          <a:xfrm>
            <a:off x="1066800" y="4577079"/>
            <a:ext cx="29824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After a rough night, start late or work from home.</a:t>
            </a:r>
            <a:endParaRPr lang="en-US" sz="1400" dirty="0"/>
          </a:p>
        </p:txBody>
      </p:sp>
      <p:sp>
        <p:nvSpPr>
          <p:cNvPr id="16" name="Shape 14"/>
          <p:cNvSpPr/>
          <p:nvPr/>
        </p:nvSpPr>
        <p:spPr>
          <a:xfrm>
            <a:off x="4394200" y="4003039"/>
            <a:ext cx="3403600" cy="1838960"/>
          </a:xfrm>
          <a:prstGeom prst="roundRect">
            <a:avLst>
              <a:gd name="adj" fmla="val 5525"/>
            </a:avLst>
          </a:prstGeom>
          <a:solidFill>
            <a:srgbClr val="FDFCFA"/>
          </a:solidFill>
          <a:ln/>
        </p:spPr>
        <p:txBody>
          <a:bodyPr/>
          <a:lstStyle/>
          <a:p>
            <a:endParaRPr lang="en-US"/>
          </a:p>
        </p:txBody>
      </p:sp>
      <p:sp>
        <p:nvSpPr>
          <p:cNvPr id="17" name="Text 15"/>
          <p:cNvSpPr/>
          <p:nvPr/>
        </p:nvSpPr>
        <p:spPr>
          <a:xfrm>
            <a:off x="4648200" y="4257042"/>
            <a:ext cx="298246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24A16"/>
                </a:solidFill>
                <a:latin typeface="IBM Plex Sans" pitchFamily="34" charset="0"/>
                <a:ea typeface="IBM Plex Sans" pitchFamily="34" charset="-122"/>
                <a:cs typeface="IBM Plex Sans" pitchFamily="34" charset="-120"/>
              </a:rPr>
              <a:t>Track fairness</a:t>
            </a:r>
            <a:endParaRPr lang="en-US" sz="1600" dirty="0"/>
          </a:p>
        </p:txBody>
      </p:sp>
      <p:sp>
        <p:nvSpPr>
          <p:cNvPr id="18" name="Text 16"/>
          <p:cNvSpPr/>
          <p:nvPr/>
        </p:nvSpPr>
        <p:spPr>
          <a:xfrm>
            <a:off x="4648200" y="4577079"/>
            <a:ext cx="29824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Report who gets paged and when, then rebalance.</a:t>
            </a:r>
            <a:endParaRPr lang="en-US" sz="1400" dirty="0"/>
          </a:p>
        </p:txBody>
      </p:sp>
      <p:sp>
        <p:nvSpPr>
          <p:cNvPr id="19" name="Shape 17"/>
          <p:cNvSpPr/>
          <p:nvPr/>
        </p:nvSpPr>
        <p:spPr>
          <a:xfrm>
            <a:off x="7975600" y="4003039"/>
            <a:ext cx="3403600" cy="1838960"/>
          </a:xfrm>
          <a:prstGeom prst="roundRect">
            <a:avLst>
              <a:gd name="adj" fmla="val 5525"/>
            </a:avLst>
          </a:prstGeom>
          <a:solidFill>
            <a:srgbClr val="FDFCFA"/>
          </a:solidFill>
          <a:ln/>
        </p:spPr>
        <p:txBody>
          <a:bodyPr/>
          <a:lstStyle/>
          <a:p>
            <a:endParaRPr lang="en-US"/>
          </a:p>
        </p:txBody>
      </p:sp>
      <p:sp>
        <p:nvSpPr>
          <p:cNvPr id="20" name="Text 18"/>
          <p:cNvSpPr/>
          <p:nvPr/>
        </p:nvSpPr>
        <p:spPr>
          <a:xfrm>
            <a:off x="8229600" y="4257042"/>
            <a:ext cx="298246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24A16"/>
                </a:solidFill>
                <a:latin typeface="IBM Plex Sans" pitchFamily="34" charset="0"/>
                <a:ea typeface="IBM Plex Sans" pitchFamily="34" charset="-122"/>
                <a:cs typeface="IBM Plex Sans" pitchFamily="34" charset="-120"/>
              </a:rPr>
              <a:t>Blameless postmortems</a:t>
            </a:r>
            <a:endParaRPr lang="en-US" sz="1600" dirty="0"/>
          </a:p>
        </p:txBody>
      </p:sp>
      <p:sp>
        <p:nvSpPr>
          <p:cNvPr id="21" name="Text 19"/>
          <p:cNvSpPr/>
          <p:nvPr/>
        </p:nvSpPr>
        <p:spPr>
          <a:xfrm>
            <a:off x="8229600" y="4577079"/>
            <a:ext cx="29824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pitchFamily="34" charset="0"/>
                <a:ea typeface="IBM Plex Sans" pitchFamily="34" charset="-122"/>
                <a:cs typeface="IBM Plex Sans" pitchFamily="34" charset="-120"/>
              </a:rPr>
              <a:t>Fix the system, not the person who got paged.</a:t>
            </a:r>
            <a:endParaRPr lang="en-US" sz="1400" dirty="0"/>
          </a:p>
        </p:txBody>
      </p:sp>
      <p:sp>
        <p:nvSpPr>
          <p:cNvPr id="22" name="Text 20"/>
          <p:cNvSpPr/>
          <p:nvPr/>
        </p:nvSpPr>
        <p:spPr>
          <a:xfrm>
            <a:off x="812800" y="6238242"/>
            <a:ext cx="37779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878"/>
                </a:solidFill>
                <a:latin typeface="IBM Plex Sans" pitchFamily="34" charset="0"/>
                <a:ea typeface="IBM Plex Sans" pitchFamily="34" charset="-122"/>
                <a:cs typeface="IBM Plex Sans" pitchFamily="34" charset="-120"/>
              </a:rPr>
              <a:t>Sources: Atlassian (n.d.-a); Beyer et al. (2016)</a:t>
            </a:r>
            <a:endParaRPr lang="en-US" sz="1200" dirty="0"/>
          </a:p>
        </p:txBody>
      </p:sp>
      <p:sp>
        <p:nvSpPr>
          <p:cNvPr id="23" name="Text 21"/>
          <p:cNvSpPr/>
          <p:nvPr/>
        </p:nvSpPr>
        <p:spPr>
          <a:xfrm>
            <a:off x="11236960" y="6238242"/>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87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24A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BF3EA"/>
                </a:solidFill>
                <a:latin typeface="JetBrains Mono" pitchFamily="49" charset="0"/>
                <a:ea typeface="JetBrains Mono" pitchFamily="49" charset="-122"/>
                <a:cs typeface="JetBrains Mono" pitchFamily="49" charset="-120"/>
              </a:rPr>
              <a:t>TAKEAWAY</a:t>
            </a:r>
            <a:endParaRPr lang="en-US" sz="1200" dirty="0"/>
          </a:p>
        </p:txBody>
      </p:sp>
      <p:sp>
        <p:nvSpPr>
          <p:cNvPr id="3" name="Text 1"/>
          <p:cNvSpPr>
            <a:spLocks noGrp="1"/>
          </p:cNvSpPr>
          <p:nvPr>
            <p:ph type="title"/>
          </p:nvPr>
        </p:nvSpPr>
        <p:spPr>
          <a:xfrm>
            <a:off x="812800" y="1989454"/>
            <a:ext cx="9810750" cy="17780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BF3EA"/>
                </a:solidFill>
                <a:latin typeface="IBM Plex Sans" pitchFamily="34" charset="0"/>
                <a:ea typeface="IBM Plex Sans" pitchFamily="34" charset="-122"/>
                <a:cs typeface="IBM Plex Sans" pitchFamily="34" charset="-120"/>
              </a:rPr>
              <a:t>The pager is a feedback loop. When the people who write the code also feel it break, the code gets better.</a:t>
            </a:r>
            <a:endParaRPr lang="en-US" sz="4000" dirty="0"/>
          </a:p>
        </p:txBody>
      </p:sp>
      <p:sp>
        <p:nvSpPr>
          <p:cNvPr id="4" name="Shape 2"/>
          <p:cNvSpPr/>
          <p:nvPr/>
        </p:nvSpPr>
        <p:spPr>
          <a:xfrm>
            <a:off x="812800" y="4711700"/>
            <a:ext cx="10566400" cy="0"/>
          </a:xfrm>
          <a:prstGeom prst="line">
            <a:avLst/>
          </a:prstGeom>
          <a:noFill/>
          <a:ln w="12700">
            <a:solidFill>
              <a:srgbClr val="E9B48F"/>
            </a:solidFill>
            <a:prstDash val="solid"/>
          </a:ln>
        </p:spPr>
        <p:txBody>
          <a:bodyPr/>
          <a:lstStyle/>
          <a:p>
            <a:endParaRPr lang="en-US"/>
          </a:p>
        </p:txBody>
      </p:sp>
      <p:sp>
        <p:nvSpPr>
          <p:cNvPr id="5" name="Text 3"/>
          <p:cNvSpPr/>
          <p:nvPr/>
        </p:nvSpPr>
        <p:spPr>
          <a:xfrm>
            <a:off x="812800" y="49212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3EA"/>
                </a:solidFill>
                <a:latin typeface="IBM Plex Sans" pitchFamily="34" charset="0"/>
                <a:ea typeface="IBM Plex Sans" pitchFamily="34" charset="-122"/>
                <a:cs typeface="IBM Plex Sans" pitchFamily="34" charset="-120"/>
              </a:rPr>
              <a:t>If I were setting up a rotation:</a:t>
            </a:r>
            <a:endParaRPr lang="en-US" sz="1500" dirty="0"/>
          </a:p>
        </p:txBody>
      </p:sp>
      <p:sp>
        <p:nvSpPr>
          <p:cNvPr id="6" name="Text 4"/>
          <p:cNvSpPr/>
          <p:nvPr/>
        </p:nvSpPr>
        <p:spPr>
          <a:xfrm>
            <a:off x="812800" y="5289550"/>
            <a:ext cx="1088339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BF3EA"/>
                </a:solidFill>
                <a:latin typeface="IBM Plex Sans" pitchFamily="34" charset="0"/>
                <a:ea typeface="IBM Plex Sans" pitchFamily="34" charset="-122"/>
                <a:cs typeface="IBM Plex Sans" pitchFamily="34" charset="-120"/>
              </a:rPr>
              <a:t>Developers join as secondary first · one-week shifts with a Monday handoff · a runbook for every alert · a monthly review of who got paged</a:t>
            </a:r>
            <a:endParaRPr lang="en-US" sz="1500" dirty="0"/>
          </a:p>
        </p:txBody>
      </p:sp>
      <p:sp>
        <p:nvSpPr>
          <p:cNvPr id="7" name="Text 5"/>
          <p:cNvSpPr/>
          <p:nvPr/>
        </p:nvSpPr>
        <p:spPr>
          <a:xfrm>
            <a:off x="11236960" y="6238242"/>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3D3BC"/>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References</a:t>
            </a:r>
            <a:endParaRPr lang="en-US" sz="3600" dirty="0"/>
          </a:p>
        </p:txBody>
      </p:sp>
      <p:sp>
        <p:nvSpPr>
          <p:cNvPr id="3" name="Text 1"/>
          <p:cNvSpPr/>
          <p:nvPr/>
        </p:nvSpPr>
        <p:spPr>
          <a:xfrm>
            <a:off x="812800" y="1620521"/>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Atlassian. (n.d.-a). </a:t>
            </a:r>
            <a:r>
              <a:rPr lang="en-US" sz="1300" i="1" dirty="0">
                <a:solidFill>
                  <a:srgbClr val="3D4A5C"/>
                </a:solidFill>
                <a:latin typeface="IBM Plex Sans" pitchFamily="34" charset="0"/>
                <a:ea typeface="IBM Plex Sans" pitchFamily="34" charset="-122"/>
                <a:cs typeface="IBM Plex Sans" pitchFamily="34" charset="-120"/>
              </a:rPr>
              <a:t>A manager’s guide to improving on-call</a:t>
            </a:r>
            <a:r>
              <a:rPr lang="en-US" sz="1300" dirty="0">
                <a:solidFill>
                  <a:srgbClr val="3D4A5C"/>
                </a:solidFill>
                <a:latin typeface="IBM Plex Sans" pitchFamily="34" charset="0"/>
                <a:ea typeface="IBM Plex Sans" pitchFamily="34" charset="-122"/>
                <a:cs typeface="IBM Plex Sans" pitchFamily="34" charset="-120"/>
              </a:rPr>
              <a:t>. https://www.atlassian.com/incident-management/on-call/improving-on-call</a:t>
            </a:r>
            <a:endParaRPr lang="en-US" sz="1300" dirty="0"/>
          </a:p>
        </p:txBody>
      </p:sp>
      <p:sp>
        <p:nvSpPr>
          <p:cNvPr id="4" name="Text 2"/>
          <p:cNvSpPr/>
          <p:nvPr/>
        </p:nvSpPr>
        <p:spPr>
          <a:xfrm>
            <a:off x="812800" y="2004064"/>
            <a:ext cx="1088339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Atlassian. (n.d.-b). </a:t>
            </a:r>
            <a:r>
              <a:rPr lang="en-US" sz="1300" i="1" dirty="0">
                <a:solidFill>
                  <a:srgbClr val="3D4A5C"/>
                </a:solidFill>
                <a:latin typeface="IBM Plex Sans" pitchFamily="34" charset="0"/>
                <a:ea typeface="IBM Plex Sans" pitchFamily="34" charset="-122"/>
                <a:cs typeface="IBM Plex Sans" pitchFamily="34" charset="-120"/>
              </a:rPr>
              <a:t>Is “you build it, you run it” living up to the hype?</a:t>
            </a:r>
            <a:r>
              <a:rPr lang="en-US" sz="1300" dirty="0">
                <a:solidFill>
                  <a:srgbClr val="3D4A5C"/>
                </a:solidFill>
                <a:latin typeface="IBM Plex Sans" pitchFamily="34" charset="0"/>
                <a:ea typeface="IBM Plex Sans" pitchFamily="34" charset="-122"/>
                <a:cs typeface="IBM Plex Sans" pitchFamily="34" charset="-120"/>
              </a:rPr>
              <a:t> https://www.atlassian.com/incident-management/devops/you-built-it-you-run-it</a:t>
            </a:r>
            <a:endParaRPr lang="en-US" sz="1300" dirty="0"/>
          </a:p>
        </p:txBody>
      </p:sp>
      <p:sp>
        <p:nvSpPr>
          <p:cNvPr id="5" name="Text 3"/>
          <p:cNvSpPr/>
          <p:nvPr/>
        </p:nvSpPr>
        <p:spPr>
          <a:xfrm>
            <a:off x="812800" y="2618742"/>
            <a:ext cx="1088339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Beyer, B., Jones, C., Petoff, J., &amp; Murphy, N. R. (Eds.). (2016). </a:t>
            </a:r>
            <a:r>
              <a:rPr lang="en-US" sz="1300" i="1" dirty="0">
                <a:solidFill>
                  <a:srgbClr val="3D4A5C"/>
                </a:solidFill>
                <a:latin typeface="IBM Plex Sans" pitchFamily="34" charset="0"/>
                <a:ea typeface="IBM Plex Sans" pitchFamily="34" charset="-122"/>
                <a:cs typeface="IBM Plex Sans" pitchFamily="34" charset="-120"/>
              </a:rPr>
              <a:t>Site reliability engineering: How Google runs production systems</a:t>
            </a:r>
            <a:r>
              <a:rPr lang="en-US" sz="1300" dirty="0">
                <a:solidFill>
                  <a:srgbClr val="3D4A5C"/>
                </a:solidFill>
                <a:latin typeface="IBM Plex Sans" pitchFamily="34" charset="0"/>
                <a:ea typeface="IBM Plex Sans" pitchFamily="34" charset="-122"/>
                <a:cs typeface="IBM Plex Sans" pitchFamily="34" charset="-120"/>
              </a:rPr>
              <a:t> (Chapter 11, Being on-call). O’Reilly Media. https://sre.google/sre-book/being-on-call/</a:t>
            </a:r>
            <a:endParaRPr lang="en-US" sz="1300" dirty="0"/>
          </a:p>
        </p:txBody>
      </p:sp>
      <p:sp>
        <p:nvSpPr>
          <p:cNvPr id="6" name="Text 4"/>
          <p:cNvSpPr/>
          <p:nvPr/>
        </p:nvSpPr>
        <p:spPr>
          <a:xfrm>
            <a:off x="812800" y="3233421"/>
            <a:ext cx="1088339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Kim, G., Humble, J., Debois, P., Willis, J., &amp; Forsgren, N. (2021). </a:t>
            </a:r>
            <a:r>
              <a:rPr lang="en-US" sz="1300" i="1" dirty="0">
                <a:solidFill>
                  <a:srgbClr val="3D4A5C"/>
                </a:solidFill>
                <a:latin typeface="IBM Plex Sans" pitchFamily="34" charset="0"/>
                <a:ea typeface="IBM Plex Sans" pitchFamily="34" charset="-122"/>
                <a:cs typeface="IBM Plex Sans" pitchFamily="34" charset="-120"/>
              </a:rPr>
              <a:t>The DevOps handbook: How to create world-class agility, reliability, &amp; security in technology organizations</a:t>
            </a:r>
            <a:r>
              <a:rPr lang="en-US" sz="1300" dirty="0">
                <a:solidFill>
                  <a:srgbClr val="3D4A5C"/>
                </a:solidFill>
                <a:latin typeface="IBM Plex Sans" pitchFamily="34" charset="0"/>
                <a:ea typeface="IBM Plex Sans" pitchFamily="34" charset="-122"/>
                <a:cs typeface="IBM Plex Sans" pitchFamily="34" charset="-120"/>
              </a:rPr>
              <a:t> (2nd ed.). IT Revolution Press.</a:t>
            </a:r>
            <a:endParaRPr lang="en-US" sz="1300" dirty="0"/>
          </a:p>
        </p:txBody>
      </p:sp>
      <p:sp>
        <p:nvSpPr>
          <p:cNvPr id="7" name="Text 5"/>
          <p:cNvSpPr/>
          <p:nvPr/>
        </p:nvSpPr>
        <p:spPr>
          <a:xfrm>
            <a:off x="812800" y="384810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Rose, K. (2014, July 17). </a:t>
            </a:r>
            <a:r>
              <a:rPr lang="en-US" sz="1300" i="1" dirty="0">
                <a:solidFill>
                  <a:srgbClr val="3D4A5C"/>
                </a:solidFill>
                <a:latin typeface="IBM Plex Sans" pitchFamily="34" charset="0"/>
                <a:ea typeface="IBM Plex Sans" pitchFamily="34" charset="-122"/>
                <a:cs typeface="IBM Plex Sans" pitchFamily="34" charset="-120"/>
              </a:rPr>
              <a:t>Effective start/end practices for on-call scheduling</a:t>
            </a:r>
            <a:r>
              <a:rPr lang="en-US" sz="1300" dirty="0">
                <a:solidFill>
                  <a:srgbClr val="3D4A5C"/>
                </a:solidFill>
                <a:latin typeface="IBM Plex Sans" pitchFamily="34" charset="0"/>
                <a:ea typeface="IBM Plex Sans" pitchFamily="34" charset="-122"/>
                <a:cs typeface="IBM Plex Sans" pitchFamily="34" charset="-120"/>
              </a:rPr>
              <a:t>. PagerDuty. https://www.pagerduty.com/blog/insights/effective-start-end-practices-for-on-call-scheduling/</a:t>
            </a:r>
            <a:endParaRPr lang="en-US" sz="1300" dirty="0"/>
          </a:p>
        </p:txBody>
      </p:sp>
      <p:sp>
        <p:nvSpPr>
          <p:cNvPr id="8" name="Text 6"/>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87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theme/theme1.xml><?xml version="1.0" encoding="utf-8"?>
<a:theme xmlns:a="http://schemas.openxmlformats.org/drawingml/2006/main" name="Pager Rotation Duties in DevOps">
  <a:themeElements>
    <a:clrScheme name="Pager Rotation Duties in DevOps">
      <a:dk1>
        <a:srgbClr val="14213D"/>
      </a:dk1>
      <a:lt1>
        <a:srgbClr val="F7F6F2"/>
      </a:lt1>
      <a:dk2>
        <a:srgbClr val="4D566A"/>
      </a:dk2>
      <a:lt2>
        <a:srgbClr val="E0E1E0"/>
      </a:lt2>
      <a:accent1>
        <a:srgbClr val="A24A16"/>
      </a:accent1>
      <a:accent2>
        <a:srgbClr val="F2A65A"/>
      </a:accent2>
      <a:accent3>
        <a:srgbClr val="F3D3BC"/>
      </a:accent3>
      <a:accent4>
        <a:srgbClr val="3D4A5C"/>
      </a:accent4>
      <a:accent5>
        <a:srgbClr val="5E6878"/>
      </a:accent5>
      <a:accent6>
        <a:srgbClr val="C9D3E3"/>
      </a:accent6>
      <a:hlink>
        <a:srgbClr val="0563C1"/>
      </a:hlink>
      <a:folHlink>
        <a:srgbClr val="954F72"/>
      </a:folHlink>
    </a:clrScheme>
    <a:fontScheme name="Pager Rotation Duties in DevOp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1910</Words>
  <Application>Microsoft Office PowerPoint</Application>
  <PresentationFormat>Widescreen</PresentationFormat>
  <Paragraphs>131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IBM Plex Sans</vt:lpstr>
      <vt:lpstr>JetBrains Mono</vt:lpstr>
      <vt:lpstr>Pager Rotation Duties in DevOps</vt:lpstr>
      <vt:lpstr>Pager Rotation Duties in DevOps</vt:lpstr>
      <vt:lpstr>What pager rotation means</vt:lpstr>
      <vt:lpstr>Why developers share the pager</vt:lpstr>
      <vt:lpstr>Developers run it first, then earn the handoff</vt:lpstr>
      <vt:lpstr>Google’s limits on on-call work</vt:lpstr>
      <vt:lpstr>Pick a shift length that fits the team</vt:lpstr>
      <vt:lpstr>Every page should be worth waking up for</vt:lpstr>
      <vt:lpstr>Protect the people who carry the pager</vt:lpstr>
      <vt:lpstr>The pager is a feedback loop. When the people who write the code also feel it break, the code gets better.</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Pager Rotation Duties in DevOps</dc:title>
  <dc:subject/>
  <dc:creator>Rakesh Shrestha</dc:creator>
  <dc:description/>
  <cp:lastModifiedBy>rakesh shrestha</cp:lastModifiedBy>
  <cp:revision>3</cp:revision>
  <dcterms:created xsi:type="dcterms:W3CDTF">2026-10-24T00:46:58Z</dcterms:created>
  <dcterms:modified xsi:type="dcterms:W3CDTF">2026-10-24T03:52:18Z</dcterms:modified>
</cp:coreProperties>
</file>