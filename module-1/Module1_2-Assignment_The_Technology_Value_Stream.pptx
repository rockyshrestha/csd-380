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A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777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E70A6"/>
                </a:solidFill>
                <a:latin typeface="Aptos"/>
              </a:defRPr>
            </a:pPr>
            <a:r>
              <a:t>CSD-380  •  DEVOPS  •  MODULE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700" b="1" i="0">
                <a:solidFill>
                  <a:srgbClr val="233444"/>
                </a:solidFill>
                <a:latin typeface="Aptos Display"/>
              </a:defRPr>
            </a:pPr>
            <a:r>
              <a:t>The Technology Value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646C74"/>
                </a:solidFill>
                <a:latin typeface="Aptos"/>
              </a:defRPr>
            </a:pPr>
            <a:r>
              <a:t>Lead Time, Process Time, and the path from months-long deployments to the DevOps ideal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886200"/>
            <a:ext cx="1874519" cy="822960"/>
          </a:xfrm>
          <a:prstGeom prst="roundRect">
            <a:avLst/>
          </a:prstGeom>
          <a:solidFill>
            <a:srgbClr val="3E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Business</a:t>
            </a:r>
            <a:br/>
            <a:r>
              <a:t>idea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24912" y="4151376"/>
            <a:ext cx="438912" cy="274320"/>
          </a:xfrm>
          <a:prstGeom prst="rightArrow">
            <a:avLst/>
          </a:prstGeom>
          <a:solidFill>
            <a:srgbClr val="919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17520" y="3886200"/>
            <a:ext cx="1874519" cy="822960"/>
          </a:xfrm>
          <a:prstGeom prst="roundRect">
            <a:avLst/>
          </a:prstGeom>
          <a:solidFill>
            <a:srgbClr val="37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92624" y="4151376"/>
            <a:ext cx="438912" cy="274320"/>
          </a:xfrm>
          <a:prstGeom prst="rightArrow">
            <a:avLst/>
          </a:prstGeom>
          <a:solidFill>
            <a:srgbClr val="919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285231" y="3886200"/>
            <a:ext cx="1874519" cy="822960"/>
          </a:xfrm>
          <a:prstGeom prst="roundRect">
            <a:avLst/>
          </a:prstGeom>
          <a:solidFill>
            <a:srgbClr val="DA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60336" y="4151376"/>
            <a:ext cx="438912" cy="274320"/>
          </a:xfrm>
          <a:prstGeom prst="rightArrow">
            <a:avLst/>
          </a:prstGeom>
          <a:solidFill>
            <a:srgbClr val="919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52944" y="3886200"/>
            <a:ext cx="1874519" cy="822960"/>
          </a:xfrm>
          <a:prstGeom prst="roundRect">
            <a:avLst/>
          </a:prstGeom>
          <a:solidFill>
            <a:srgbClr val="BE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28048" y="4151376"/>
            <a:ext cx="438912" cy="274320"/>
          </a:xfrm>
          <a:prstGeom prst="rightArrow">
            <a:avLst/>
          </a:prstGeom>
          <a:solidFill>
            <a:srgbClr val="919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20656" y="3886200"/>
            <a:ext cx="1874519" cy="822960"/>
          </a:xfrm>
          <a:prstGeom prst="roundRect">
            <a:avLst/>
          </a:prstGeom>
          <a:solidFill>
            <a:srgbClr val="23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Customer</a:t>
            </a:r>
            <a:br/>
            <a: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66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33444"/>
                </a:solidFill>
                <a:latin typeface="Aptos"/>
              </a:defRPr>
            </a:pPr>
            <a:r>
              <a:rPr dirty="0"/>
              <a:t>Rakesh Shrestha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532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46C74"/>
                </a:solidFill>
                <a:latin typeface="Aptos"/>
              </a:defRPr>
            </a:pPr>
            <a:r>
              <a:t>Bellevue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9893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46C74"/>
                </a:solidFill>
                <a:latin typeface="Aptos"/>
              </a:defRPr>
            </a:pPr>
            <a:r>
              <a:t>Primary source: The DevOps Handbook, Chapter 1, pp. 8–11.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2801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Aptos Display"/>
              </a:defRPr>
            </a:pPr>
            <a:r>
              <a:t>What Is the Technology Value Stream?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64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D7E1EB"/>
                </a:solidFill>
                <a:latin typeface="Aptos"/>
              </a:defRPr>
            </a:pPr>
            <a:r>
              <a:t>FROM IDEA →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3429000" cy="4434840"/>
          </a:xfrm>
          <a:prstGeom prst="roundRect">
            <a:avLst/>
          </a:prstGeom>
          <a:solidFill>
            <a:srgbClr val="E7EF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73152" cy="4434840"/>
          </a:xfrm>
          <a:prstGeom prst="rect">
            <a:avLst/>
          </a:prstGeom>
          <a:solidFill>
            <a:srgbClr val="3E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32588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33444"/>
                </a:solidFill>
                <a:latin typeface="Aptos Display"/>
              </a:defRPr>
            </a:pPr>
            <a:r>
              <a:t>1. Start with a business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33080"/>
            <a:ext cx="3044952" cy="357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2D3034"/>
                </a:solidFill>
                <a:latin typeface="Aptos"/>
              </a:defRPr>
            </a:pPr>
            <a:r>
              <a:t>A business objective, concept, idea, or hypothesis enters the value stream and becomes committed work in Development.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87952" y="2926080"/>
            <a:ext cx="502920" cy="329184"/>
          </a:xfrm>
          <a:prstGeom prst="rightArrow">
            <a:avLst/>
          </a:prstGeom>
          <a:solidFill>
            <a:srgbClr val="3E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98848" y="1188720"/>
            <a:ext cx="3429000" cy="4434840"/>
          </a:xfrm>
          <a:prstGeom prst="roundRect">
            <a:avLst/>
          </a:prstGeom>
          <a:solidFill>
            <a:srgbClr val="E6F3F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98848" y="1188720"/>
            <a:ext cx="73152" cy="4434840"/>
          </a:xfrm>
          <a:prstGeom prst="rect">
            <a:avLst/>
          </a:prstGeom>
          <a:solidFill>
            <a:srgbClr val="37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0016" y="1325880"/>
            <a:ext cx="3227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33444"/>
                </a:solidFill>
                <a:latin typeface="Aptos Display"/>
              </a:defRPr>
            </a:pPr>
            <a:r>
              <a:rPr dirty="0"/>
              <a:t>2. Turn it into working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1933080"/>
            <a:ext cx="3044952" cy="357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2D3034"/>
                </a:solidFill>
                <a:latin typeface="Aptos"/>
              </a:defRPr>
            </a:pPr>
            <a:r>
              <a:t>The idea becomes user stories and code. Changes are checked into version control, integrated, and tested.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92440" y="2926080"/>
            <a:ext cx="502920" cy="329184"/>
          </a:xfrm>
          <a:prstGeom prst="rightArrow">
            <a:avLst/>
          </a:prstGeom>
          <a:solidFill>
            <a:srgbClr val="37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2480" y="1188720"/>
            <a:ext cx="3154680" cy="4434840"/>
          </a:xfrm>
          <a:prstGeom prst="roundRect">
            <a:avLst/>
          </a:prstGeom>
          <a:solidFill>
            <a:srgbClr val="FBF0E4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1188720"/>
            <a:ext cx="73152" cy="4434840"/>
          </a:xfrm>
          <a:prstGeom prst="rect">
            <a:avLst/>
          </a:prstGeom>
          <a:solidFill>
            <a:srgbClr val="DA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13648" y="132588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33444"/>
                </a:solidFill>
                <a:latin typeface="Aptos Display"/>
              </a:defRPr>
            </a:pPr>
            <a:r>
              <a:t>3. Deliver customer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1933080"/>
            <a:ext cx="2770632" cy="357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2D3034"/>
                </a:solidFill>
                <a:latin typeface="Aptos"/>
              </a:defRPr>
            </a:pPr>
            <a:r>
              <a:t>Value is created when the service or feature is running successfully in production and can provide useful feedback.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33872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233444"/>
                </a:solidFill>
                <a:latin typeface="Aptos"/>
              </a:defRPr>
            </a:pPr>
            <a:r>
              <a:t>My takeaway: “done” should mean more than finishing the coding. The work matters when it actually reaches the customer.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6483096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46C74"/>
                </a:solidFill>
                <a:latin typeface="Aptos"/>
              </a:defRPr>
            </a:pPr>
            <a:r>
              <a:t>Source: Kim, Humble, Debois, Willis, &amp; Forsgren, The DevOps Handbook, Ch. 1, pp. 8–9.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646480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6C7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7f068e-a09a-4170-9eeb-36d6c2e7c1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28016"/>
            <a:ext cx="923475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Aptos Display"/>
              </a:defRPr>
            </a:pPr>
            <a:r>
              <a:rPr dirty="0" sz="2000"/>
              <a:t>The Common Scenario: Deployment Lead Times Requiring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64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D7E1EB"/>
                </a:solidFill>
                <a:latin typeface="Aptos"/>
              </a:defRPr>
            </a:pPr>
            <a:r>
              <a:t>PAGE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05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33444"/>
                </a:solidFill>
                <a:latin typeface="Aptos"/>
              </a:defRPr>
            </a:pPr>
            <a:r>
              <a:t>Why can a software change take months to reach production?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697480" cy="2057400"/>
          </a:xfrm>
          <a:prstGeom prst="roundRect">
            <a:avLst/>
          </a:prstGeom>
          <a:solidFill>
            <a:srgbClr val="E7EF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73152" cy="2057400"/>
          </a:xfrm>
          <a:prstGeom prst="rect">
            <a:avLst/>
          </a:prstGeom>
          <a:solidFill>
            <a:srgbClr val="3E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2407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33444"/>
                </a:solidFill>
                <a:latin typeface="Aptos Display"/>
              </a:defRPr>
            </a:pPr>
            <a:r>
              <a:rPr dirty="0"/>
              <a:t>Scarce test environments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86000"/>
            <a:ext cx="231343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Integration testing has limited capacity or availability.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691640"/>
            <a:ext cx="2697480" cy="2057400"/>
          </a:xfrm>
          <a:prstGeom prst="roundRect">
            <a:avLst/>
          </a:prstGeom>
          <a:solidFill>
            <a:srgbClr val="E6F3F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93008" y="1691640"/>
            <a:ext cx="73152" cy="2057400"/>
          </a:xfrm>
          <a:prstGeom prst="rect">
            <a:avLst/>
          </a:prstGeom>
          <a:solidFill>
            <a:srgbClr val="37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3008" y="182880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33444"/>
                </a:solidFill>
                <a:latin typeface="Aptos Display"/>
              </a:defRPr>
            </a:pPr>
            <a:r>
              <a:rPr dirty="0"/>
              <a:t>Long environment lead times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286000"/>
            <a:ext cx="231343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Getting test or production environments ready takes too long.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691640"/>
            <a:ext cx="2697480" cy="2057400"/>
          </a:xfrm>
          <a:prstGeom prst="roundRect">
            <a:avLst/>
          </a:prstGeom>
          <a:solidFill>
            <a:srgbClr val="FBF0E4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27648" y="1691640"/>
            <a:ext cx="73152" cy="2057400"/>
          </a:xfrm>
          <a:prstGeom prst="rect">
            <a:avLst/>
          </a:prstGeom>
          <a:solidFill>
            <a:srgbClr val="DA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28816" y="18288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33444"/>
                </a:solidFill>
                <a:latin typeface="Aptos Display"/>
              </a:defRPr>
            </a:pPr>
            <a:r>
              <a:t>Manual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286000"/>
            <a:ext cx="231343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Important verification depends heavily on people and handoffs.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1691640"/>
            <a:ext cx="2697480" cy="2057400"/>
          </a:xfrm>
          <a:prstGeom prst="roundRect">
            <a:avLst/>
          </a:prstGeom>
          <a:solidFill>
            <a:srgbClr val="F9EAE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62288" y="1691640"/>
            <a:ext cx="73152" cy="2057400"/>
          </a:xfrm>
          <a:prstGeom prst="rect">
            <a:avLst/>
          </a:prstGeom>
          <a:solidFill>
            <a:srgbClr val="BE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63456" y="18288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33444"/>
                </a:solidFill>
                <a:latin typeface="Aptos Display"/>
              </a:defRPr>
            </a:pPr>
            <a:r>
              <a:t>Multiple approvals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286000"/>
            <a:ext cx="231343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Required approval steps create additional waiting and queues.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160520"/>
            <a:ext cx="10698480" cy="713232"/>
          </a:xfrm>
          <a:prstGeom prst="roundRect">
            <a:avLst/>
          </a:prstGeom>
          <a:solidFill>
            <a:srgbClr val="F9EAE8"/>
          </a:solidFill>
          <a:ln>
            <a:solidFill>
              <a:srgbClr val="BE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32511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BE4C46"/>
                </a:solidFill>
                <a:latin typeface="Aptos Display"/>
              </a:defRPr>
            </a:pPr>
            <a:r>
              <a:t>THREE-MONTH DEPLOYMENT LEAD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10287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2D3034"/>
                </a:solidFill>
                <a:latin typeface="Aptos"/>
              </a:defRPr>
            </a:pPr>
            <a:r>
              <a:t>The human cost is not just “waiting.” Long lead times create heroics, late integration problems, and days or weeks of investigation when something breaks.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483096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46C74"/>
                </a:solidFill>
                <a:latin typeface="Aptos"/>
              </a:defRPr>
            </a:pPr>
            <a:r>
              <a:t>Source: Kim, Humble, Debois, Willis, &amp; Forsgren, The DevOps Handbook, 2nd ed. (2021), Ch. 1, pp. 9–10; Figure 1.2 on p. 10 credits Damon Edwards, “DevOps Kaizen” (2015).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46480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6C7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2801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Aptos Display"/>
              </a:defRPr>
            </a:pPr>
            <a:r>
              <a:t>What Happens When Lead Time Gets Too Long?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64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D7E1EB"/>
                </a:solidFill>
                <a:latin typeface="Aptos"/>
              </a:defRPr>
            </a:pPr>
            <a:r>
              <a:t>THE REAL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965960" cy="749808"/>
          </a:xfrm>
          <a:prstGeom prst="roundRect">
            <a:avLst/>
          </a:prstGeom>
          <a:solidFill>
            <a:srgbClr val="3E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Large batch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1554480"/>
            <a:ext cx="384048" cy="256032"/>
          </a:xfrm>
          <a:prstGeom prst="rightArrow">
            <a:avLst/>
          </a:prstGeom>
          <a:solidFill>
            <a:srgbClr val="919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71800" y="1325880"/>
            <a:ext cx="1965960" cy="749808"/>
          </a:xfrm>
          <a:prstGeom prst="roundRect">
            <a:avLst/>
          </a:prstGeom>
          <a:solidFill>
            <a:srgbClr val="646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Long wait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29200" y="1554480"/>
            <a:ext cx="384048" cy="256032"/>
          </a:xfrm>
          <a:prstGeom prst="rightArrow">
            <a:avLst/>
          </a:prstGeom>
          <a:solidFill>
            <a:srgbClr val="919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57800" y="1325880"/>
            <a:ext cx="1965960" cy="749808"/>
          </a:xfrm>
          <a:prstGeom prst="roundRect">
            <a:avLst/>
          </a:prstGeom>
          <a:solidFill>
            <a:srgbClr val="DA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Manual steps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15200" y="1554480"/>
            <a:ext cx="384048" cy="256032"/>
          </a:xfrm>
          <a:prstGeom prst="rightArrow">
            <a:avLst/>
          </a:prstGeom>
          <a:solidFill>
            <a:srgbClr val="919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43800" y="1325880"/>
            <a:ext cx="1965960" cy="749808"/>
          </a:xfrm>
          <a:prstGeom prst="roundRect">
            <a:avLst/>
          </a:prstGeom>
          <a:solidFill>
            <a:srgbClr val="BE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Late discovery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01200" y="1554480"/>
            <a:ext cx="384048" cy="256032"/>
          </a:xfrm>
          <a:prstGeom prst="rightArrow">
            <a:avLst/>
          </a:prstGeom>
          <a:solidFill>
            <a:srgbClr val="919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29800" y="1325880"/>
            <a:ext cx="1965960" cy="749808"/>
          </a:xfrm>
          <a:prstGeom prst="roundRect">
            <a:avLst/>
          </a:prstGeom>
          <a:solidFill>
            <a:srgbClr val="23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Rework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514600"/>
            <a:ext cx="5212080" cy="2423160"/>
          </a:xfrm>
          <a:prstGeom prst="roundRect">
            <a:avLst/>
          </a:prstGeom>
          <a:solidFill>
            <a:srgbClr val="F9EAE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9808" y="2514600"/>
            <a:ext cx="73152" cy="2423160"/>
          </a:xfrm>
          <a:prstGeom prst="rect">
            <a:avLst/>
          </a:prstGeom>
          <a:solidFill>
            <a:srgbClr val="BE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26517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233444"/>
                </a:solidFill>
                <a:latin typeface="Aptos Display"/>
              </a:defRPr>
            </a:pPr>
            <a:r>
              <a:t>The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108960"/>
            <a:ext cx="4828032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D3034"/>
                </a:solidFill>
                <a:latin typeface="Aptos"/>
              </a:defRPr>
            </a:pPr>
            <a:r>
              <a:t>Changes accumulate → teams wait for integration or testing → approvals and handoffs add more delay → defects are found late → fixing them takes much longer.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2514600"/>
            <a:ext cx="5212080" cy="2423160"/>
          </a:xfrm>
          <a:prstGeom prst="roundRect">
            <a:avLst/>
          </a:prstGeom>
          <a:solidFill>
            <a:srgbClr val="FBF0E4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45352" y="2514600"/>
            <a:ext cx="73152" cy="2423160"/>
          </a:xfrm>
          <a:prstGeom prst="rect">
            <a:avLst/>
          </a:prstGeom>
          <a:solidFill>
            <a:srgbClr val="DA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233444"/>
                </a:solidFill>
                <a:latin typeface="Aptos Display"/>
              </a:defRPr>
            </a:pPr>
            <a:r>
              <a:t>The key 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08960"/>
            <a:ext cx="4828032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D3034"/>
                </a:solidFill>
                <a:latin typeface="Aptos"/>
              </a:defRPr>
            </a:pPr>
            <a:r>
              <a:t>The issue is not simply that people need to work faster. The system itself is creating queues, large batches, delayed feedback, and expensive rework.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233444"/>
                </a:solidFill>
                <a:latin typeface="Aptos Display"/>
              </a:defRPr>
            </a:pPr>
            <a:r>
              <a:t>Reducing lead time means reducing waiting—not just asking people to move faster.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6483096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46C74"/>
                </a:solidFill>
                <a:latin typeface="Aptos"/>
              </a:defRPr>
            </a:pPr>
            <a:r>
              <a:t>Source: Kim, Humble, Debois, Willis, &amp; Forsgren, The DevOps Handbook, Ch. 1, pp. 9–10.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46480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6C7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2801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Aptos Display"/>
              </a:defRPr>
            </a:pPr>
            <a:r>
              <a:rPr sz="2000"/>
              <a:t>Our DevOps Ideal: Deployment Lead Times of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64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D7E1EB"/>
                </a:solidFill>
                <a:latin typeface="Aptos"/>
              </a:defRPr>
            </a:pPr>
            <a:r>
              <a:t>PAGE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60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33444"/>
                </a:solidFill>
                <a:latin typeface="Aptos"/>
              </a:defRPr>
            </a:pPr>
            <a:r>
              <a:t>The goal is a small, repeatable path from code change to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057400" cy="914400"/>
          </a:xfrm>
          <a:prstGeom prst="roundRect">
            <a:avLst/>
          </a:prstGeom>
          <a:solidFill>
            <a:srgbClr val="3E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Small code</a:t>
            </a:r>
            <a:br/>
            <a:r>
              <a:t>change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24328" y="2011680"/>
            <a:ext cx="384048" cy="256032"/>
          </a:xfrm>
          <a:prstGeom prst="rightArrow">
            <a:avLst/>
          </a:prstGeom>
          <a:solidFill>
            <a:srgbClr val="919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34639" y="1691640"/>
            <a:ext cx="2057400" cy="914400"/>
          </a:xfrm>
          <a:prstGeom prst="roundRect">
            <a:avLst/>
          </a:prstGeom>
          <a:solidFill>
            <a:srgbClr val="37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Automated</a:t>
            </a:r>
            <a:br/>
            <a:r>
              <a:t>build + test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56048" y="2011680"/>
            <a:ext cx="384048" cy="256032"/>
          </a:xfrm>
          <a:prstGeom prst="rightArrow">
            <a:avLst/>
          </a:prstGeom>
          <a:solidFill>
            <a:srgbClr val="919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66359" y="1691640"/>
            <a:ext cx="2057400" cy="914400"/>
          </a:xfrm>
          <a:prstGeom prst="roundRect">
            <a:avLst/>
          </a:prstGeom>
          <a:solidFill>
            <a:srgbClr val="DA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87767" y="2011680"/>
            <a:ext cx="384048" cy="256032"/>
          </a:xfrm>
          <a:prstGeom prst="rightArrow">
            <a:avLst/>
          </a:prstGeom>
          <a:solidFill>
            <a:srgbClr val="919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98079" y="1691640"/>
            <a:ext cx="2057400" cy="914400"/>
          </a:xfrm>
          <a:prstGeom prst="roundRect">
            <a:avLst/>
          </a:prstGeom>
          <a:solidFill>
            <a:srgbClr val="BE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19488" y="2011680"/>
            <a:ext cx="384048" cy="256032"/>
          </a:xfrm>
          <a:prstGeom prst="rightArrow">
            <a:avLst/>
          </a:prstGeom>
          <a:solidFill>
            <a:srgbClr val="919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29800" y="1691640"/>
            <a:ext cx="2057400" cy="914400"/>
          </a:xfrm>
          <a:prstGeom prst="roundRect">
            <a:avLst/>
          </a:prstGeom>
          <a:solidFill>
            <a:srgbClr val="23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Running in</a:t>
            </a:r>
            <a:br/>
            <a:r>
              <a:t>production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999232"/>
            <a:ext cx="4800600" cy="841248"/>
          </a:xfrm>
          <a:prstGeom prst="roundRect">
            <a:avLst/>
          </a:prstGeom>
          <a:solidFill>
            <a:srgbClr val="E6F3F1"/>
          </a:solidFill>
          <a:ln>
            <a:solidFill>
              <a:srgbClr val="37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03320" y="2999232"/>
            <a:ext cx="4800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378580"/>
                </a:solidFill>
                <a:latin typeface="Aptos Display"/>
              </a:defRPr>
            </a:pPr>
            <a:r>
              <a:t>DEPLOYMENT LEAD TIME:</a:t>
            </a:r>
          </a:p>
          <a:p>
            <a:pPr algn="ctr">
              <a:spcBef>
                <a:spcPts val="0"/>
              </a:spcBef>
              <a:defRPr sz="2000" b="1">
                <a:solidFill>
                  <a:srgbClr val="378580"/>
                </a:solidFill>
                <a:latin typeface="Aptos Display"/>
              </a:defRPr>
            </a:pPr>
            <a:r>
              <a:t>MINUTES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251960"/>
            <a:ext cx="3429000" cy="1571600"/>
          </a:xfrm>
          <a:prstGeom prst="roundRect">
            <a:avLst/>
          </a:prstGeom>
          <a:solidFill>
            <a:srgbClr val="E7EF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4251960"/>
            <a:ext cx="73152" cy="1571600"/>
          </a:xfrm>
          <a:prstGeom prst="rect">
            <a:avLst/>
          </a:prstGeom>
          <a:solidFill>
            <a:srgbClr val="3E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33444"/>
                </a:solidFill>
                <a:latin typeface="Aptos Display"/>
              </a:defRPr>
            </a:pPr>
            <a:r>
              <a:t>Small batches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044952" cy="8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D3034"/>
                </a:solidFill>
                <a:latin typeface="Aptos"/>
              </a:defRPr>
            </a:pPr>
            <a:r>
              <a:t>Frequent, small changes reduce the size of failures and make problems easier to correct.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4251960"/>
            <a:ext cx="3429000" cy="1571600"/>
          </a:xfrm>
          <a:prstGeom prst="roundRect">
            <a:avLst/>
          </a:prstGeom>
          <a:solidFill>
            <a:srgbClr val="FBF0E4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70832" y="4251960"/>
            <a:ext cx="73152" cy="1571600"/>
          </a:xfrm>
          <a:prstGeom prst="rect">
            <a:avLst/>
          </a:prstGeom>
          <a:solidFill>
            <a:srgbClr val="DA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438912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33444"/>
                </a:solidFill>
                <a:latin typeface="Aptos Display"/>
              </a:defRPr>
            </a:pPr>
            <a:r>
              <a:t>Fast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846320"/>
            <a:ext cx="3044952" cy="8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D3034"/>
                </a:solidFill>
                <a:latin typeface="Aptos"/>
              </a:defRPr>
            </a:pPr>
            <a:r>
              <a:t>Automated and exploratory testing helps the team find problems while they are still small.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1" y="4251960"/>
            <a:ext cx="3429000" cy="1571600"/>
          </a:xfrm>
          <a:prstGeom prst="roundRect">
            <a:avLst/>
          </a:prstGeom>
          <a:solidFill>
            <a:srgbClr val="E6F3F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28431" y="4251960"/>
            <a:ext cx="73152" cy="1571600"/>
          </a:xfrm>
          <a:prstGeom prst="rect">
            <a:avLst/>
          </a:prstGeom>
          <a:solidFill>
            <a:srgbClr val="37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438912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33444"/>
                </a:solidFill>
                <a:latin typeface="Aptos Display"/>
              </a:defRPr>
            </a:pPr>
            <a:r>
              <a:t>Loosely coupled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46320"/>
            <a:ext cx="3044952" cy="8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D3034"/>
                </a:solidFill>
                <a:latin typeface="Aptos"/>
              </a:defRPr>
            </a:pPr>
            <a:r>
              <a:t>Modular architecture lets small teams work more independently and contain failures.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6483096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46C74"/>
                </a:solidFill>
                <a:latin typeface="Aptos"/>
              </a:defRPr>
            </a:pPr>
            <a:r>
              <a:t>Source: Kim, Humble, Debois, Willis, &amp; Forsgren, The DevOps Handbook, Ch. 1, pp. 10–11.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2528" y="646480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6C7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2801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Aptos Display"/>
              </a:defRPr>
            </a:pPr>
            <a:r>
              <a:t>Months vs. Minutes: The Big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64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D7E1EB"/>
                </a:solidFill>
                <a:latin typeface="Aptos"/>
              </a:defRPr>
            </a:pPr>
            <a:r>
              <a:t>SIDE BY 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5257800" cy="640080"/>
          </a:xfrm>
          <a:prstGeom prst="roundRect">
            <a:avLst/>
          </a:prstGeom>
          <a:solidFill>
            <a:srgbClr val="F9EAE8"/>
          </a:solidFill>
          <a:ln>
            <a:solidFill>
              <a:srgbClr val="BE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25272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BE4C46"/>
                </a:solidFill>
                <a:latin typeface="Aptos"/>
              </a:defRPr>
            </a:pPr>
            <a:r>
              <a:t>COMMON SCENARIO —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97280"/>
            <a:ext cx="5257800" cy="640080"/>
          </a:xfrm>
          <a:prstGeom prst="roundRect">
            <a:avLst/>
          </a:prstGeom>
          <a:solidFill>
            <a:srgbClr val="E6F3F1"/>
          </a:solidFill>
          <a:ln>
            <a:solidFill>
              <a:srgbClr val="37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25272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78580"/>
                </a:solidFill>
                <a:latin typeface="Aptos"/>
              </a:defRPr>
            </a:pPr>
            <a:r>
              <a:t>DEVOPS IDEAL —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65960"/>
            <a:ext cx="1600200" cy="566928"/>
          </a:xfrm>
          <a:prstGeom prst="rect">
            <a:avLst/>
          </a:prstGeom>
          <a:solidFill>
            <a:srgbClr val="F6F8FA"/>
          </a:solidFill>
          <a:ln>
            <a:solidFill>
              <a:srgbClr val="23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10312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233444"/>
                </a:solidFill>
                <a:latin typeface="Aptos"/>
              </a:defRPr>
            </a:pPr>
            <a:r>
              <a:t>Batch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965960"/>
            <a:ext cx="3657600" cy="566928"/>
          </a:xfrm>
          <a:prstGeom prst="rect">
            <a:avLst/>
          </a:prstGeom>
          <a:solidFill>
            <a:srgbClr val="F9EAE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23160" y="209397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Large / long-lived 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965960"/>
            <a:ext cx="5257800" cy="566928"/>
          </a:xfrm>
          <a:prstGeom prst="rect">
            <a:avLst/>
          </a:prstGeom>
          <a:solidFill>
            <a:srgbClr val="E6F3F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093976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Small / frequent changes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596896"/>
            <a:ext cx="1600200" cy="566928"/>
          </a:xfrm>
          <a:prstGeom prst="rect">
            <a:avLst/>
          </a:prstGeom>
          <a:solidFill>
            <a:srgbClr val="F6F8FA"/>
          </a:solidFill>
          <a:ln>
            <a:solidFill>
              <a:srgbClr val="23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2734056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233444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596896"/>
            <a:ext cx="3657600" cy="566928"/>
          </a:xfrm>
          <a:prstGeom prst="rect">
            <a:avLst/>
          </a:prstGeom>
          <a:solidFill>
            <a:srgbClr val="F9EAE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23160" y="272491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Manual and delayed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2596896"/>
            <a:ext cx="5257800" cy="566928"/>
          </a:xfrm>
          <a:prstGeom prst="rect">
            <a:avLst/>
          </a:prstGeom>
          <a:solidFill>
            <a:srgbClr val="E6F3F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724912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Automated + exploratory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227832"/>
            <a:ext cx="1600200" cy="566928"/>
          </a:xfrm>
          <a:prstGeom prst="rect">
            <a:avLst/>
          </a:prstGeom>
          <a:solidFill>
            <a:srgbClr val="F6F8FA"/>
          </a:solidFill>
          <a:ln>
            <a:solidFill>
              <a:srgbClr val="23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364991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233444"/>
                </a:solidFill>
                <a:latin typeface="Aptos"/>
              </a:defRPr>
            </a:pPr>
            <a:r>
              <a:t>Approvals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227832"/>
            <a:ext cx="3657600" cy="566928"/>
          </a:xfrm>
          <a:prstGeom prst="rect">
            <a:avLst/>
          </a:prstGeom>
          <a:solidFill>
            <a:srgbClr val="F9EAE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23160" y="335584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Multiple gates create queues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3227832"/>
            <a:ext cx="5257800" cy="566928"/>
          </a:xfrm>
          <a:prstGeom prst="rect">
            <a:avLst/>
          </a:prstGeom>
          <a:solidFill>
            <a:srgbClr val="E6F3F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355848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Fast, reliable path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858768"/>
            <a:ext cx="1600200" cy="566928"/>
          </a:xfrm>
          <a:prstGeom prst="rect">
            <a:avLst/>
          </a:prstGeom>
          <a:solidFill>
            <a:srgbClr val="F6F8FA"/>
          </a:solidFill>
          <a:ln>
            <a:solidFill>
              <a:srgbClr val="23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399592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233444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3858768"/>
            <a:ext cx="3657600" cy="566928"/>
          </a:xfrm>
          <a:prstGeom prst="rect">
            <a:avLst/>
          </a:prstGeom>
          <a:solidFill>
            <a:srgbClr val="F9EAE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3986783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Tightly coupled / monolithic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3858768"/>
            <a:ext cx="5257800" cy="566928"/>
          </a:xfrm>
          <a:prstGeom prst="rect">
            <a:avLst/>
          </a:prstGeom>
          <a:solidFill>
            <a:srgbClr val="E6F3F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3986783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Modular / loosely coupled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489704"/>
            <a:ext cx="1600200" cy="566928"/>
          </a:xfrm>
          <a:prstGeom prst="rect">
            <a:avLst/>
          </a:prstGeom>
          <a:solidFill>
            <a:srgbClr val="F6F8FA"/>
          </a:solidFill>
          <a:ln>
            <a:solidFill>
              <a:srgbClr val="23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4626864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233444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4489704"/>
            <a:ext cx="3657600" cy="566928"/>
          </a:xfrm>
          <a:prstGeom prst="rect">
            <a:avLst/>
          </a:prstGeom>
          <a:solidFill>
            <a:srgbClr val="F9EAE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423160" y="461772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Large and discovered late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45352" y="4489704"/>
            <a:ext cx="5257800" cy="566928"/>
          </a:xfrm>
          <a:prstGeom prst="rect">
            <a:avLst/>
          </a:prstGeom>
          <a:solidFill>
            <a:srgbClr val="E6F3F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61772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Small and detected quickly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120640"/>
            <a:ext cx="1600200" cy="566928"/>
          </a:xfrm>
          <a:prstGeom prst="rect">
            <a:avLst/>
          </a:prstGeom>
          <a:solidFill>
            <a:srgbClr val="F6F8FA"/>
          </a:solidFill>
          <a:ln>
            <a:solidFill>
              <a:srgbClr val="23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2" y="525780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233444"/>
                </a:solidFill>
                <a:latin typeface="Aptos"/>
              </a:defRPr>
            </a:pPr>
            <a:r>
              <a:t>Customer value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5120640"/>
            <a:ext cx="3657600" cy="566928"/>
          </a:xfrm>
          <a:prstGeom prst="rect">
            <a:avLst/>
          </a:prstGeom>
          <a:solidFill>
            <a:srgbClr val="F9EAE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23160" y="5248655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Arrives slowly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45352" y="5120640"/>
            <a:ext cx="5257800" cy="566928"/>
          </a:xfrm>
          <a:prstGeom prst="rect">
            <a:avLst/>
          </a:prstGeom>
          <a:solidFill>
            <a:srgbClr val="E6F3F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0" y="5248655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0">
                <a:solidFill>
                  <a:srgbClr val="2D3034"/>
                </a:solidFill>
                <a:latin typeface="Aptos"/>
              </a:defRPr>
            </a:pPr>
            <a:r>
              <a:t>Can arrive continuously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820000"/>
            <a:ext cx="1033272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233444"/>
                </a:solidFill>
                <a:latin typeface="Aptos"/>
              </a:defRPr>
            </a:pPr>
            <a:r>
              <a:t>The goal is not speed by itself. It is a value stream that is faster, safer, and more predictable.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6928" y="6483096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46C74"/>
                </a:solidFill>
                <a:latin typeface="Aptos"/>
              </a:defRPr>
            </a:pPr>
            <a:r>
              <a:t>Source: Kim, Humble, Debois, Willis, &amp; Forsgren, The DevOps Handbook, Ch. 1, pp. 9–11.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82528" y="646480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6C7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2801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Aptos Display"/>
              </a:defRPr>
            </a:pPr>
            <a:r>
              <a:t>What I Would Take Away From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64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D7E1EB"/>
                </a:solidFill>
                <a:latin typeface="Aptos"/>
              </a:defRPr>
            </a:pPr>
            <a:r>
              <a:t>MY TAKEAWAY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29000" cy="4297680"/>
          </a:xfrm>
          <a:prstGeom prst="roundRect">
            <a:avLst/>
          </a:prstGeom>
          <a:solidFill>
            <a:srgbClr val="E7EF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4297680"/>
          </a:xfrm>
          <a:prstGeom prst="rect">
            <a:avLst/>
          </a:prstGeom>
          <a:solidFill>
            <a:srgbClr val="3E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7160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33444"/>
                </a:solidFill>
                <a:latin typeface="Aptos Display"/>
              </a:defRPr>
            </a:pPr>
            <a:r>
              <a:t>1. Look for the waiting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78800"/>
            <a:ext cx="3044952" cy="343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D3034"/>
                </a:solidFill>
                <a:latin typeface="Aptos"/>
              </a:defRPr>
            </a:pPr>
            <a:r>
              <a:t>If process time is much smaller than lead time, I would look first for queues, approvals, handoffs, and other delays instead of assuming the team is simply too slow.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29000" cy="4297680"/>
          </a:xfrm>
          <a:prstGeom prst="roundRect">
            <a:avLst/>
          </a:prstGeom>
          <a:solidFill>
            <a:srgbClr val="FBF0E4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73152" cy="4297680"/>
          </a:xfrm>
          <a:prstGeom prst="rect">
            <a:avLst/>
          </a:prstGeom>
          <a:solidFill>
            <a:srgbClr val="DA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37160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33444"/>
                </a:solidFill>
                <a:latin typeface="Aptos Display"/>
              </a:defRPr>
            </a:pPr>
            <a:r>
              <a:t>2. Keep changes small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78800"/>
            <a:ext cx="3044952" cy="343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D3034"/>
                </a:solidFill>
                <a:latin typeface="Aptos"/>
              </a:defRPr>
            </a:pPr>
            <a:r>
              <a:t>Smaller changes are easier to test, integrate, and fix. They also make it easier to see what caused a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234440"/>
            <a:ext cx="3429000" cy="4297680"/>
          </a:xfrm>
          <a:prstGeom prst="roundRect">
            <a:avLst/>
          </a:prstGeom>
          <a:solidFill>
            <a:srgbClr val="E6F3F1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234440"/>
            <a:ext cx="73152" cy="4297680"/>
          </a:xfrm>
          <a:prstGeom prst="rect">
            <a:avLst/>
          </a:prstGeom>
          <a:solidFill>
            <a:srgbClr val="37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137160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33444"/>
                </a:solidFill>
                <a:latin typeface="Aptos Display"/>
              </a:defRPr>
            </a:pPr>
            <a:r>
              <a:t>3. Build feedback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1828800"/>
            <a:ext cx="304495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D3034"/>
                </a:solidFill>
                <a:latin typeface="Aptos"/>
              </a:defRPr>
            </a:pPr>
            <a:r>
              <a:t>Fast automated feedback gives developers a chance to catch problems before they become expensive production problems.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79008"/>
            <a:ext cx="10424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0" i="1">
                <a:solidFill>
                  <a:srgbClr val="233444"/>
                </a:solidFill>
                <a:latin typeface="Aptos"/>
              </a:defRPr>
            </a:pPr>
            <a:r>
              <a:t>For me, the biggest point is simple: if software takes months to deploy, the answer is usually not “work harder.” We need to improve the system the work is moving through.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6483096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46C74"/>
                </a:solidFill>
                <a:latin typeface="Aptos"/>
              </a:defRPr>
            </a:pPr>
            <a:r>
              <a:t>Source: Kim, Humble, Debois, Willis, &amp; Forsgren, The DevOps Handbook, 2nd ed. (2021), Ch. 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46480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6C7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2801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64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D7E1EB"/>
                </a:solidFill>
                <a:latin typeface="Aptos"/>
              </a:defRPr>
            </a:pPr>
            <a:r>
              <a:t>REFERENCES &amp; SOURCE CREDITS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78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D3034"/>
                </a:solidFill>
                <a:latin typeface="Aptos"/>
              </a:defRPr>
            </a:pPr>
            <a:r>
              <a:rPr dirty="0"/>
              <a:t>• Kim, G., Humble, J., Debois, P., Willis, J., &amp; Forsgren, N. (2021). The DevOps handbook: How to create world-class agility, </a:t>
            </a:r>
            <a:r>
              <a:rPr lang="en-US" dirty="0"/>
              <a:t> </a:t>
            </a:r>
          </a:p>
          <a:p>
            <a:pPr algn="l">
              <a:defRPr sz="1600" b="0" i="0">
                <a:solidFill>
                  <a:srgbClr val="2D3034"/>
                </a:solidFill>
                <a:latin typeface="Aptos"/>
              </a:defRPr>
            </a:pPr>
            <a:r>
              <a:rPr lang="en-US" dirty="0"/>
              <a:t>   </a:t>
            </a:r>
            <a:r>
              <a:rPr dirty="0"/>
              <a:t>reliability, &amp; security in technology organizations (2nd ed.). IT Revolution.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078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D3034"/>
                </a:solidFill>
                <a:latin typeface="Aptos"/>
              </a:defRPr>
            </a:pPr>
            <a:r>
              <a:rPr dirty="0"/>
              <a:t>• Edwards, D. (2015). DevOps Kaizen. Source credited for Figure 1.2 in The DevOps Handbook (2nd ed.), Chapter 1, p. 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D3034"/>
                </a:solidFill>
                <a:latin typeface="Aptos"/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5166360"/>
            <a:ext cx="10424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5367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233444"/>
                </a:solidFill>
                <a:latin typeface="Aptos"/>
              </a:defRPr>
            </a:pPr>
            <a:r>
              <a:t>Primary assignment source: The DevOps Handbook, Chapter 1, especially pages 9–10.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035040"/>
            <a:ext cx="10424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46C74"/>
                </a:solidFill>
                <a:latin typeface="Aptos"/>
              </a:defRPr>
            </a:pPr>
            <a:r>
              <a:rPr dirty="0"/>
              <a:t>CSD-380  •  Module 1.2  •  </a:t>
            </a:r>
            <a:r>
              <a:t>Rakesh Shrestha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980</Words>
  <Application>Microsoft Office PowerPoint</Application>
  <PresentationFormat>Widescreen</PresentationFormat>
  <Paragraphs>112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Rakesh Shrestha</dc:creator>
  <cp:keywords/>
  <dc:description>generated using python-pptx</dc:description>
  <cp:lastModifiedBy>rakesh shrestha</cp:lastModifiedBy>
  <cp:revision>9</cp:revision>
  <dcterms:created xsi:type="dcterms:W3CDTF">2013-01-27T09:14:16Z</dcterms:created>
  <dcterms:modified xsi:type="dcterms:W3CDTF">2026-09-12T08:15:57Z</dcterms:modified>
  <cp:category/>
</cp:coreProperties>
</file>